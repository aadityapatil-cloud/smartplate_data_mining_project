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26" autoAdjust="0"/>
    <p:restoredTop sz="54248" autoAdjust="0"/>
  </p:normalViewPr>
  <p:slideViewPr>
    <p:cSldViewPr snapToGrid="0" snapToObjects="1">
      <p:cViewPr varScale="1">
        <p:scale>
          <a:sx n="59" d="100"/>
          <a:sy n="59" d="100"/>
        </p:scale>
        <p:origin x="2141" y="5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6243A"/>
                </a:solidFill>
                <a:latin typeface="+mn-lt"/>
              </a:defRPr>
            </a:pPr>
            <a:r>
              <a:rPr lang="en-US" sz="1000" b="0" i="0" u="none" strike="noStrike">
                <a:solidFill>
                  <a:srgbClr val="16243A"/>
                </a:solidFill>
                <a:latin typeface="+mn-lt"/>
              </a:rPr>
              <a:t>Top 5 items by total waste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Waste</c:v>
                </c:pt>
              </c:strCache>
            </c:strRef>
          </c:tx>
          <c:spPr>
            <a:solidFill>
              <a:srgbClr val="D9703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6243A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Veg Thali</c:v>
                </c:pt>
                <c:pt idx="1">
                  <c:v>Dal Rice</c:v>
                </c:pt>
                <c:pt idx="2">
                  <c:v>Veg Biryani</c:v>
                </c:pt>
                <c:pt idx="3">
                  <c:v>Chapati</c:v>
                </c:pt>
                <c:pt idx="4">
                  <c:v>Chicken Biryani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55929</c:v>
                </c:pt>
                <c:pt idx="1">
                  <c:v>37162</c:v>
                </c:pt>
                <c:pt idx="2">
                  <c:v>34774</c:v>
                </c:pt>
                <c:pt idx="3">
                  <c:v>33328</c:v>
                </c:pt>
                <c:pt idx="4">
                  <c:v>23854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17-4E74-8211-CB0A3A9EB8D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624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00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4063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you are managing a college cafeteria.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Tomorrow, hundreds of students are coming.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**How much food would you prepare?** [PAUSE] [EYE CONTACT]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 plates?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150?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200?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we prepare **too much**... [PAUSE]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food gets wasted.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if we prepare **too little**... [PAUSE]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students may not get enough.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the real question is: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**"How do we decide the right amount?"** [LONG PAUSE]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that's where our project begins.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**Smart Food Waste Management Using Data Mining.**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🧠 Remember: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Cafeteria → How much? → Too much → Too little → Right amount → Project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---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 day, a cafeteria prepares food based on expected student demand.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demand doesn't stay the same.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can change with the number of students, food item, meal type, day and other conditions.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we basically have two problems.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**Too much preparation leads to food waste.**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**Too little preparation leads to unmet demand.**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[PAUSE]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we thought: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**Instead of looking at the waste only after it happens, can we use past data to make a better decision before preparing the food?**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[PAUSE]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is the main idea behind our project.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[INTONATION]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Don't say everything at the same speed.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Say: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**"Too much preparation..."** ↘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**"...leads to food waste."**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**"Too little preparation..."** ↘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**"...leads to unmet demand."**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contrast will sound very good.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his first section.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Tell him not to rush.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"To solve this problem, we needed data."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"Our Smart Food Waste dataset contains **21,900 records and 45 features**."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data covers January 2025 to December 2026."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"It contains information like food item, food category, meal type, quantity prepared, quantity sold, quantity wasted, number of students and actual demand."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 used this data to understand food demand and wastage patterns."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🧠 Partner's memory: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→ 21,900 → 45 → 2025–2026 → Prepared → Sold → Wasted → Demand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That's it.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🧑 PARTNER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 him continue for 30–40 seconds: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"After studying the dataset, we identified four main questions."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"First, how much food demand can be predicted?"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"Second, where is food wastage happening?"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"Third, which food items are associated with each other?"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"And fourth, how can these results support better food planning?"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**"So we needed data mining techniques to answer these questions."**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🧑 YOU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"Our objectives were directly connected to those questions."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First, we wanted to analyze food preparation, sales and wastage.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Second, we wanted to predict food demand.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Third, we wanted to discover relationships between food items.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finally, we wanted to visualize the results and identify useful patterns.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[POINT]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our complete approach was: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**Data → Analysis → Prediction and Association → Visualization.**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🧑 YOU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 selected these two algorithms because they solve two different problems."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**Linear Regression** answers one question: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**"How much food demand can we expect?"**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[PAUSE]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**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Apriori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 answers another: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**"Which food items are frequently associated?"**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[PAUSE]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in very simple words: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**Linear Regression tells us HOW MUCH.**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Apriori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tells us WHAT GOES TOGETHER.**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**Can a model learn from what happened before and estimate what might happen next?** [PAUSE]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That's what Linear Regression helps us do.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learns the relationship between the input variables and food demand.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it gives us a predicted demand.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Finally, we compare the prediction with the actual demand.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because demand is a numerical value, we evaluate the model using **MAE, RMSE and R²**.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[GESTURE]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saying: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**Input → Model → Demand**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your hand to move from left to right.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---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"Now let's see how we actually implemented this in Python."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First, we divided our data into training and testing data.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had **17,520 training records and 4,380 testing records**.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[POINT]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we connected the preprocessing step and Linear Regression model using a pipeline.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training the model, we generated predictions on the test data.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also made sure that the predicted food demand cannot be negative.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Finally, we evaluated the predictions.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move toward the result cards.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[PAUSE]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"And this is where we can see how the model performed."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**MAE was 47.93.**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**RMSE was 68.42.**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our **R² was 0.8828.**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[PAUSE]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"So the model explains approximately **88% of the variation in demand**."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partner.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"Imagine we have thousands of cafeteria transactions."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 food items may appear together again and again.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Instead of manually checking thousands of records, we can let the algorithm find these patterns.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That's what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Apriori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does.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finds frequent item combinations and then generates association rules.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mainly look at three measures: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[And one important point: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**Association does not mean causation.**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our analysis, we generated **271 association rules**."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 look at one example.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**Lemon Juice → Coffee.** [POINT]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support is **0.0601**.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confidence is **0.5937**, which is approximately 59%.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the lift is **5.8611**.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lift above 1 means the two items occur together more often than we would expect by chance.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[PAUSE]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now we have a second type of insight.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**Linear Regression tells us about demand.**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Apriori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tells us about relationships between food items.**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---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had predictions.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had association rules.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had food-waste numbers.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**But there was one more problem.**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 Python output is not the easiest thing for a manager to understand.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we used **Power BI** to turn these results into visual information.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[POINT TO KPI]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 we can see: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**Total prepared — 5.65 million.**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**Total sold — 5.26 million.**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**Total wasted — 391,224.47.**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the overall waste percentage is **6.92%.**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can also see waste by category, top food items by waste, regression results and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Apriori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association rules.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[PAUSE]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**"So Python helped us find the patterns, and Power BI helped us communicate those patterns."**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🔥 This should be one of your strongest lines.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🧑 PARTNER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 him the first part: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"Our main results are summarized here."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"For Linear Regression, the R² value is 0.8828."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"For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Apriori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we generated 271 association rules."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total food waste is 391,224.47 units."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YOU: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"And the overall waste percentage is **6.92%**."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"Some of the highest-waste food items include Veg Thali, Dal Rice, Veg Biryani and Chapati."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[PAUSE]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"But let's not look at these numbers separately."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"Let's come back to the question we started with."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**"How much food should we prepare?"** [LONG PAUSE]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 project shows how historical data can help us approach that decision in a more informed way.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 Regression helps estimate demand.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Apriori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helps us understand food-item relationships.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Power BI helps us see and communicate the results.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his final major section.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"To conclude, our project uses two Data Mining techniques."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"Linear Regression is used to estimate food demand."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Apriori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used to identify associations between food items."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"Power BI is used to visualize the results."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"Together, these findings can support better food preparation and food-waste management."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🧑 YOU — FINAL LINE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Look at audience.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[PAUSE]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**"So instead of looking at food waste only as something that happened at the end of the day..."**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[PAUSE]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 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**"...we try to understand the patterns behind it."**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[SMILE]</a:t>
            </a:r>
            <a:endParaRPr lang="en-I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640080" y="1097280"/>
            <a:ext cx="5212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788920"/>
            <a:ext cx="5212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i="1" dirty="0">
                <a:solidFill>
                  <a:schemeClr val="accent6"/>
                </a:solidFill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4"/>
                </a:solidFill>
              </a:rPr>
              <a:t>Smart Food Waste Management Using Data Mining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640080" y="1097280"/>
            <a:ext cx="5212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Smart Food Waste Management Using Data Mining</a:t>
            </a:r>
            <a:endParaRPr lang="en-US" sz="3200" dirty="0"/>
          </a:p>
        </p:txBody>
      </p:sp>
      <p:sp>
        <p:nvSpPr>
          <p:cNvPr id="3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7889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i="1" dirty="0">
                <a:solidFill>
                  <a:schemeClr val="accent6"/>
                </a:solidFill>
              </a:rPr>
              <a:t>Demand Prediction and Food-Item Association Analysis</a:t>
            </a:r>
            <a:endParaRPr lang="en-US" sz="1600" dirty="0"/>
          </a:p>
        </p:txBody>
      </p:sp>
      <p:sp>
        <p:nvSpPr>
          <p:cNvPr id="4" name="Project details"/>
          <p:cNvSpPr txBox="1"/>
          <p:nvPr/>
        </p:nvSpPr>
        <p:spPr>
          <a:xfrm>
            <a:off x="640080" y="36576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Data Mining &amp; Data Warehousing Project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Algorithms: Linear Regression + Apriori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Tools: Python + Power BI</a:t>
            </a:r>
            <a:endParaRPr lang="en-US" sz="1400" dirty="0"/>
          </a:p>
        </p:txBody>
      </p:sp>
      <p:sp>
        <p:nvSpPr>
          <p:cNvPr id="5" name="Plate outer"/>
          <p:cNvSpPr/>
          <p:nvPr/>
        </p:nvSpPr>
        <p:spPr>
          <a:xfrm>
            <a:off x="5989320" y="1051560"/>
            <a:ext cx="2651760" cy="265176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Plate inner"/>
          <p:cNvSpPr/>
          <p:nvPr/>
        </p:nvSpPr>
        <p:spPr>
          <a:xfrm>
            <a:off x="6263640" y="1325880"/>
            <a:ext cx="2103120" cy="210312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Data bar"/>
          <p:cNvSpPr/>
          <p:nvPr/>
        </p:nvSpPr>
        <p:spPr>
          <a:xfrm>
            <a:off x="6492240" y="2697480"/>
            <a:ext cx="228600" cy="4572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Data bar"/>
          <p:cNvSpPr/>
          <p:nvPr/>
        </p:nvSpPr>
        <p:spPr>
          <a:xfrm>
            <a:off x="6830568" y="2377440"/>
            <a:ext cx="228600" cy="7772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Data bar"/>
          <p:cNvSpPr/>
          <p:nvPr/>
        </p:nvSpPr>
        <p:spPr>
          <a:xfrm>
            <a:off x="7168896" y="2560320"/>
            <a:ext cx="228600" cy="5943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Data bar"/>
          <p:cNvSpPr/>
          <p:nvPr/>
        </p:nvSpPr>
        <p:spPr>
          <a:xfrm>
            <a:off x="7507224" y="2103120"/>
            <a:ext cx="228600" cy="10515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Data bar"/>
          <p:cNvSpPr/>
          <p:nvPr/>
        </p:nvSpPr>
        <p:spPr>
          <a:xfrm>
            <a:off x="7845552" y="2331720"/>
            <a:ext cx="228600" cy="8229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Introduction</a:t>
            </a:r>
            <a:endParaRPr lang="en-US" sz="3000" dirty="0"/>
          </a:p>
        </p:txBody>
      </p:sp>
      <p:sp>
        <p:nvSpPr>
          <p:cNvPr id="3" name="Context text"/>
          <p:cNvSpPr txBox="1"/>
          <p:nvPr/>
        </p:nvSpPr>
        <p:spPr>
          <a:xfrm>
            <a:off x="457200" y="109728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Cafeterias prepare food every day based on expected student demand. Demand changes with the number of students, food item, meal type, day and other conditions.</a:t>
            </a:r>
            <a:endParaRPr lang="en-US" sz="1400" dirty="0"/>
          </a:p>
        </p:txBody>
      </p:sp>
      <p:sp>
        <p:nvSpPr>
          <p:cNvPr id="4" name="Over-preparation card"/>
          <p:cNvSpPr/>
          <p:nvPr/>
        </p:nvSpPr>
        <p:spPr>
          <a:xfrm>
            <a:off x="457200" y="228600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Over-prep text"/>
          <p:cNvSpPr txBox="1"/>
          <p:nvPr/>
        </p:nvSpPr>
        <p:spPr>
          <a:xfrm>
            <a:off x="548640" y="228600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Over-preparation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leads to food wastage</a:t>
            </a:r>
            <a:endParaRPr lang="en-US" sz="1400" dirty="0"/>
          </a:p>
        </p:txBody>
      </p:sp>
      <p:sp>
        <p:nvSpPr>
          <p:cNvPr id="6" name="Under-preparation card"/>
          <p:cNvSpPr/>
          <p:nvPr/>
        </p:nvSpPr>
        <p:spPr>
          <a:xfrm>
            <a:off x="2560320" y="228600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Under-prep text"/>
          <p:cNvSpPr txBox="1"/>
          <p:nvPr/>
        </p:nvSpPr>
        <p:spPr>
          <a:xfrm>
            <a:off x="2651760" y="228600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3"/>
                </a:solidFill>
              </a:rPr>
              <a:t>Under-preparation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leads to unmet demand</a:t>
            </a:r>
            <a:endParaRPr lang="en-US" sz="1400" dirty="0"/>
          </a:p>
        </p:txBody>
      </p:sp>
      <p:sp>
        <p:nvSpPr>
          <p:cNvPr id="8" name="Goal line"/>
          <p:cNvSpPr txBox="1"/>
          <p:nvPr/>
        </p:nvSpPr>
        <p:spPr>
          <a:xfrm>
            <a:off x="457200" y="38404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Goal: prepare the right amount of food.</a:t>
            </a:r>
            <a:endParaRPr lang="en-US" sz="1400" dirty="0"/>
          </a:p>
        </p:txBody>
      </p:sp>
      <p:sp>
        <p:nvSpPr>
          <p:cNvPr id="9" name="Applies card"/>
          <p:cNvSpPr/>
          <p:nvPr/>
        </p:nvSpPr>
        <p:spPr>
          <a:xfrm>
            <a:off x="4846320" y="1097280"/>
            <a:ext cx="384048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Applies heading"/>
          <p:cNvSpPr txBox="1"/>
          <p:nvPr/>
        </p:nvSpPr>
        <p:spPr>
          <a:xfrm>
            <a:off x="5029200" y="11887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project applies Data Mining to:</a:t>
            </a:r>
            <a:endParaRPr lang="en-US" sz="1600" dirty="0"/>
          </a:p>
        </p:txBody>
      </p:sp>
      <p:sp>
        <p:nvSpPr>
          <p:cNvPr id="11" name="Number badge"/>
          <p:cNvSpPr/>
          <p:nvPr/>
        </p:nvSpPr>
        <p:spPr>
          <a:xfrm>
            <a:off x="5029200" y="178308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Number"/>
          <p:cNvSpPr txBox="1"/>
          <p:nvPr/>
        </p:nvSpPr>
        <p:spPr>
          <a:xfrm>
            <a:off x="5029200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3" name="Applies item"/>
          <p:cNvSpPr txBox="1"/>
          <p:nvPr/>
        </p:nvSpPr>
        <p:spPr>
          <a:xfrm>
            <a:off x="5532120" y="173736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Understand food preparation and wastage patterns</a:t>
            </a:r>
            <a:endParaRPr lang="en-US" sz="1400" dirty="0"/>
          </a:p>
        </p:txBody>
      </p:sp>
      <p:sp>
        <p:nvSpPr>
          <p:cNvPr id="14" name="Number badge"/>
          <p:cNvSpPr/>
          <p:nvPr/>
        </p:nvSpPr>
        <p:spPr>
          <a:xfrm>
            <a:off x="5029200" y="236829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Number"/>
          <p:cNvSpPr txBox="1"/>
          <p:nvPr/>
        </p:nvSpPr>
        <p:spPr>
          <a:xfrm>
            <a:off x="5029200" y="23682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Applies item"/>
          <p:cNvSpPr txBox="1"/>
          <p:nvPr/>
        </p:nvSpPr>
        <p:spPr>
          <a:xfrm>
            <a:off x="5532120" y="2322576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Predict food demand</a:t>
            </a:r>
            <a:endParaRPr lang="en-US" sz="1400" dirty="0"/>
          </a:p>
        </p:txBody>
      </p:sp>
      <p:sp>
        <p:nvSpPr>
          <p:cNvPr id="17" name="Number badge"/>
          <p:cNvSpPr/>
          <p:nvPr/>
        </p:nvSpPr>
        <p:spPr>
          <a:xfrm>
            <a:off x="5029200" y="295351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Number"/>
          <p:cNvSpPr txBox="1"/>
          <p:nvPr/>
        </p:nvSpPr>
        <p:spPr>
          <a:xfrm>
            <a:off x="5029200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Applies item"/>
          <p:cNvSpPr txBox="1"/>
          <p:nvPr/>
        </p:nvSpPr>
        <p:spPr>
          <a:xfrm>
            <a:off x="5532120" y="290779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Discover associations between food items</a:t>
            </a:r>
            <a:endParaRPr lang="en-US" sz="1400" dirty="0"/>
          </a:p>
        </p:txBody>
      </p:sp>
      <p:sp>
        <p:nvSpPr>
          <p:cNvPr id="20" name="Number badge"/>
          <p:cNvSpPr/>
          <p:nvPr/>
        </p:nvSpPr>
        <p:spPr>
          <a:xfrm>
            <a:off x="5029200" y="3538728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Number"/>
          <p:cNvSpPr txBox="1"/>
          <p:nvPr/>
        </p:nvSpPr>
        <p:spPr>
          <a:xfrm>
            <a:off x="5029200" y="3538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Applies item"/>
          <p:cNvSpPr txBox="1"/>
          <p:nvPr/>
        </p:nvSpPr>
        <p:spPr>
          <a:xfrm>
            <a:off x="5532120" y="3493008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Visualize the results using Power BI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Dataset Used: Smart Food Waste Dataset</a:t>
            </a:r>
            <a:endParaRPr lang="en-US" sz="3000" dirty="0"/>
          </a:p>
        </p:txBody>
      </p:sp>
      <p:sp>
        <p:nvSpPr>
          <p:cNvPr id="3" name="Stat card"/>
          <p:cNvSpPr/>
          <p:nvPr/>
        </p:nvSpPr>
        <p:spPr>
          <a:xfrm>
            <a:off x="457200" y="1051560"/>
            <a:ext cx="960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tat value"/>
          <p:cNvSpPr txBox="1"/>
          <p:nvPr/>
        </p:nvSpPr>
        <p:spPr>
          <a:xfrm>
            <a:off x="548640" y="1097280"/>
            <a:ext cx="841248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21,900</a:t>
            </a:r>
            <a:endParaRPr lang="en-US" sz="2000" dirty="0"/>
          </a:p>
        </p:txBody>
      </p:sp>
      <p:sp>
        <p:nvSpPr>
          <p:cNvPr id="5" name="Stat label"/>
          <p:cNvSpPr txBox="1"/>
          <p:nvPr/>
        </p:nvSpPr>
        <p:spPr>
          <a:xfrm>
            <a:off x="548640" y="1555394"/>
            <a:ext cx="777240" cy="321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records</a:t>
            </a:r>
            <a:endParaRPr lang="en-US" sz="1100" dirty="0"/>
          </a:p>
        </p:txBody>
      </p:sp>
      <p:sp>
        <p:nvSpPr>
          <p:cNvPr id="6" name="Stat card"/>
          <p:cNvSpPr/>
          <p:nvPr/>
        </p:nvSpPr>
        <p:spPr>
          <a:xfrm>
            <a:off x="1481328" y="1051560"/>
            <a:ext cx="960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tat value"/>
          <p:cNvSpPr txBox="1"/>
          <p:nvPr/>
        </p:nvSpPr>
        <p:spPr>
          <a:xfrm>
            <a:off x="1572768" y="1097280"/>
            <a:ext cx="77724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2000" dirty="0"/>
          </a:p>
        </p:txBody>
      </p:sp>
      <p:sp>
        <p:nvSpPr>
          <p:cNvPr id="8" name="Stat label"/>
          <p:cNvSpPr txBox="1"/>
          <p:nvPr/>
        </p:nvSpPr>
        <p:spPr>
          <a:xfrm>
            <a:off x="1572768" y="1555394"/>
            <a:ext cx="777240" cy="321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features</a:t>
            </a:r>
            <a:endParaRPr lang="en-US" sz="1100" dirty="0"/>
          </a:p>
        </p:txBody>
      </p:sp>
      <p:sp>
        <p:nvSpPr>
          <p:cNvPr id="9" name="Stat card"/>
          <p:cNvSpPr/>
          <p:nvPr/>
        </p:nvSpPr>
        <p:spPr>
          <a:xfrm>
            <a:off x="2505456" y="1051560"/>
            <a:ext cx="18288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tat value"/>
          <p:cNvSpPr txBox="1"/>
          <p:nvPr/>
        </p:nvSpPr>
        <p:spPr>
          <a:xfrm>
            <a:off x="2596896" y="1097280"/>
            <a:ext cx="164592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 2025 – Dec 2025</a:t>
            </a:r>
            <a:endParaRPr lang="en-US" sz="1400" dirty="0"/>
          </a:p>
        </p:txBody>
      </p:sp>
      <p:sp>
        <p:nvSpPr>
          <p:cNvPr id="11" name="Stat label"/>
          <p:cNvSpPr txBox="1"/>
          <p:nvPr/>
        </p:nvSpPr>
        <p:spPr>
          <a:xfrm>
            <a:off x="2596896" y="1555394"/>
            <a:ext cx="1645920" cy="321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date range</a:t>
            </a:r>
            <a:endParaRPr lang="en-US" sz="1100" dirty="0"/>
          </a:p>
        </p:txBody>
      </p:sp>
      <p:sp>
        <p:nvSpPr>
          <p:cNvPr id="12" name="Stat card"/>
          <p:cNvSpPr/>
          <p:nvPr/>
        </p:nvSpPr>
        <p:spPr>
          <a:xfrm>
            <a:off x="4398264" y="1051560"/>
            <a:ext cx="960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tat value"/>
          <p:cNvSpPr txBox="1"/>
          <p:nvPr/>
        </p:nvSpPr>
        <p:spPr>
          <a:xfrm>
            <a:off x="4489704" y="1097280"/>
            <a:ext cx="77724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000" dirty="0"/>
          </a:p>
        </p:txBody>
      </p:sp>
      <p:sp>
        <p:nvSpPr>
          <p:cNvPr id="14" name="Stat label"/>
          <p:cNvSpPr txBox="1"/>
          <p:nvPr/>
        </p:nvSpPr>
        <p:spPr>
          <a:xfrm>
            <a:off x="4489704" y="1555394"/>
            <a:ext cx="777240" cy="321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food items</a:t>
            </a:r>
            <a:endParaRPr lang="en-US" sz="1100" dirty="0"/>
          </a:p>
        </p:txBody>
      </p:sp>
      <p:sp>
        <p:nvSpPr>
          <p:cNvPr id="15" name="Stat card"/>
          <p:cNvSpPr/>
          <p:nvPr/>
        </p:nvSpPr>
        <p:spPr>
          <a:xfrm>
            <a:off x="5422392" y="1051560"/>
            <a:ext cx="11430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tat value"/>
          <p:cNvSpPr txBox="1"/>
          <p:nvPr/>
        </p:nvSpPr>
        <p:spPr>
          <a:xfrm>
            <a:off x="5513832" y="1097280"/>
            <a:ext cx="96012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Stat label"/>
          <p:cNvSpPr txBox="1"/>
          <p:nvPr/>
        </p:nvSpPr>
        <p:spPr>
          <a:xfrm>
            <a:off x="5513832" y="1555394"/>
            <a:ext cx="960120" cy="321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food categories</a:t>
            </a:r>
            <a:endParaRPr lang="en-US" sz="1100" dirty="0"/>
          </a:p>
        </p:txBody>
      </p:sp>
      <p:sp>
        <p:nvSpPr>
          <p:cNvPr id="18" name="Stat card"/>
          <p:cNvSpPr/>
          <p:nvPr/>
        </p:nvSpPr>
        <p:spPr>
          <a:xfrm>
            <a:off x="6629400" y="1051560"/>
            <a:ext cx="960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tat value"/>
          <p:cNvSpPr txBox="1"/>
          <p:nvPr/>
        </p:nvSpPr>
        <p:spPr>
          <a:xfrm>
            <a:off x="6720840" y="1097280"/>
            <a:ext cx="77724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Stat label"/>
          <p:cNvSpPr txBox="1"/>
          <p:nvPr/>
        </p:nvSpPr>
        <p:spPr>
          <a:xfrm>
            <a:off x="6720840" y="1555394"/>
            <a:ext cx="777240" cy="321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meal types</a:t>
            </a:r>
            <a:endParaRPr lang="en-US" sz="1100" dirty="0"/>
          </a:p>
        </p:txBody>
      </p:sp>
      <p:sp>
        <p:nvSpPr>
          <p:cNvPr id="21" name="Stat card"/>
          <p:cNvSpPr/>
          <p:nvPr/>
        </p:nvSpPr>
        <p:spPr>
          <a:xfrm>
            <a:off x="7653528" y="1051560"/>
            <a:ext cx="10058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tat value"/>
          <p:cNvSpPr txBox="1"/>
          <p:nvPr/>
        </p:nvSpPr>
        <p:spPr>
          <a:xfrm>
            <a:off x="7744968" y="1097280"/>
            <a:ext cx="82296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23" name="Stat label"/>
          <p:cNvSpPr txBox="1"/>
          <p:nvPr/>
        </p:nvSpPr>
        <p:spPr>
          <a:xfrm>
            <a:off x="7744968" y="1555394"/>
            <a:ext cx="822960" cy="321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days of week</a:t>
            </a:r>
            <a:endParaRPr lang="en-US" sz="1100" dirty="0"/>
          </a:p>
        </p:txBody>
      </p:sp>
      <p:sp>
        <p:nvSpPr>
          <p:cNvPr id="24" name="Table heading"/>
          <p:cNvSpPr txBox="1"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Sample records (9 of 45 columns shown)</a:t>
            </a:r>
            <a:endParaRPr lang="en-US" sz="1400" dirty="0"/>
          </a:p>
        </p:txBody>
      </p:sp>
      <p:graphicFrame>
        <p:nvGraphicFramePr>
          <p:cNvPr id="27" name="Sample datase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23160"/>
          <a:ext cx="8229600" cy="1773936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Date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Food_Item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Food_Category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Meal_Type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Quantity_</a:t>
                      </a:r>
                      <a:endParaRPr lang="en-US" sz="1000" dirty="0"/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Prepared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Quantity_</a:t>
                      </a:r>
                      <a:endParaRPr lang="en-US" sz="1000" dirty="0"/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Sold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Quantity_</a:t>
                      </a:r>
                      <a:endParaRPr lang="en-US" sz="1000" dirty="0"/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Wasted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Number_of_</a:t>
                      </a:r>
                      <a:endParaRPr lang="en-US" sz="1000" dirty="0"/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Students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Actual_</a:t>
                      </a:r>
                      <a:endParaRPr lang="en-US" sz="1000" dirty="0"/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Demand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2025-01-01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Buttermilk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Beverage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Beverages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41.07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39.09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1.98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171.55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39.09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2025-01-01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Lemon Juice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Beverage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Beverages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40.15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37.21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2.94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171.55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37.21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2025-01-01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Tea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Beverage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Beverages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77.84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57.53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20.31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171.55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57.53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2025-01-01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Aloo Paratha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Main Course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Breakfast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40.98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39.88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1.10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171.55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43A"/>
                          </a:solidFill>
                        </a:rPr>
                        <a:t>39.88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able note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Quantities are in units per food item per day. Columns not shown include weather, temperature, event/holiday flags, cost, price and derived fields.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Problem Statement</a:t>
            </a:r>
            <a:endParaRPr lang="en-US" sz="3000" dirty="0"/>
          </a:p>
        </p:txBody>
      </p:sp>
      <p:sp>
        <p:nvSpPr>
          <p:cNvPr id="3" name="Problem quote band"/>
          <p:cNvSpPr/>
          <p:nvPr/>
        </p:nvSpPr>
        <p:spPr>
          <a:xfrm>
            <a:off x="457200" y="105156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Problem statement text"/>
          <p:cNvSpPr txBox="1"/>
          <p:nvPr/>
        </p:nvSpPr>
        <p:spPr>
          <a:xfrm>
            <a:off x="640080" y="105156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chemeClr val="bg1"/>
                </a:solidFill>
              </a:rPr>
              <a:t>Cafeterias need to estimate food demand accurately to reduce over-preparation and avoid unnecessary food wastage while still meeting student demand.</a:t>
            </a:r>
            <a:endParaRPr lang="en-US" sz="1500" dirty="0"/>
          </a:p>
        </p:txBody>
      </p:sp>
      <p:sp>
        <p:nvSpPr>
          <p:cNvPr id="5" name="Number badge"/>
          <p:cNvSpPr/>
          <p:nvPr/>
        </p:nvSpPr>
        <p:spPr>
          <a:xfrm>
            <a:off x="457200" y="22402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Number"/>
          <p:cNvSpPr txBox="1"/>
          <p:nvPr/>
        </p:nvSpPr>
        <p:spPr>
          <a:xfrm>
            <a:off x="45720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Question text"/>
          <p:cNvSpPr txBox="1"/>
          <p:nvPr/>
        </p:nvSpPr>
        <p:spPr>
          <a:xfrm>
            <a:off x="1005840" y="219456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How much food demand can be predicted?</a:t>
            </a:r>
            <a:endParaRPr lang="en-US" sz="1400" dirty="0"/>
          </a:p>
        </p:txBody>
      </p:sp>
      <p:sp>
        <p:nvSpPr>
          <p:cNvPr id="8" name="Number badge"/>
          <p:cNvSpPr/>
          <p:nvPr/>
        </p:nvSpPr>
        <p:spPr>
          <a:xfrm>
            <a:off x="457200" y="2862072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Number"/>
          <p:cNvSpPr txBox="1"/>
          <p:nvPr/>
        </p:nvSpPr>
        <p:spPr>
          <a:xfrm>
            <a:off x="45720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Question text"/>
          <p:cNvSpPr txBox="1"/>
          <p:nvPr/>
        </p:nvSpPr>
        <p:spPr>
          <a:xfrm>
            <a:off x="1005840" y="281635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Where is food wastage occurring?</a:t>
            </a:r>
            <a:endParaRPr lang="en-US" sz="1400" dirty="0"/>
          </a:p>
        </p:txBody>
      </p:sp>
      <p:sp>
        <p:nvSpPr>
          <p:cNvPr id="11" name="Number badge"/>
          <p:cNvSpPr/>
          <p:nvPr/>
        </p:nvSpPr>
        <p:spPr>
          <a:xfrm>
            <a:off x="457200" y="348386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Number"/>
          <p:cNvSpPr txBox="1"/>
          <p:nvPr/>
        </p:nvSpPr>
        <p:spPr>
          <a:xfrm>
            <a:off x="457200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Question text"/>
          <p:cNvSpPr txBox="1"/>
          <p:nvPr/>
        </p:nvSpPr>
        <p:spPr>
          <a:xfrm>
            <a:off x="1005840" y="343814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Which food items are associated with each other?</a:t>
            </a:r>
            <a:endParaRPr lang="en-US" sz="1400" dirty="0"/>
          </a:p>
        </p:txBody>
      </p:sp>
      <p:sp>
        <p:nvSpPr>
          <p:cNvPr id="14" name="Number badge"/>
          <p:cNvSpPr/>
          <p:nvPr/>
        </p:nvSpPr>
        <p:spPr>
          <a:xfrm>
            <a:off x="457200" y="410565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Number"/>
          <p:cNvSpPr txBox="1"/>
          <p:nvPr/>
        </p:nvSpPr>
        <p:spPr>
          <a:xfrm>
            <a:off x="457200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Question text"/>
          <p:cNvSpPr txBox="1"/>
          <p:nvPr/>
        </p:nvSpPr>
        <p:spPr>
          <a:xfrm>
            <a:off x="1005840" y="405993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How can the results support better food planning?</a:t>
            </a:r>
            <a:endParaRPr lang="en-US" sz="1400" dirty="0"/>
          </a:p>
        </p:txBody>
      </p:sp>
      <p:sp>
        <p:nvSpPr>
          <p:cNvPr id="17" name="Flow card"/>
          <p:cNvSpPr/>
          <p:nvPr/>
        </p:nvSpPr>
        <p:spPr>
          <a:xfrm>
            <a:off x="5760720" y="2148840"/>
            <a:ext cx="292608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Flow card text"/>
          <p:cNvSpPr txBox="1"/>
          <p:nvPr/>
        </p:nvSpPr>
        <p:spPr>
          <a:xfrm>
            <a:off x="5852160" y="214884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Problem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Food waste and unmet demand</a:t>
            </a:r>
            <a:endParaRPr lang="en-US" sz="1300" dirty="0"/>
          </a:p>
        </p:txBody>
      </p:sp>
      <p:sp>
        <p:nvSpPr>
          <p:cNvPr id="19" name="Flow arrow"/>
          <p:cNvSpPr/>
          <p:nvPr/>
        </p:nvSpPr>
        <p:spPr>
          <a:xfrm>
            <a:off x="7132320" y="2788920"/>
            <a:ext cx="182880" cy="109728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Flow card"/>
          <p:cNvSpPr/>
          <p:nvPr/>
        </p:nvSpPr>
        <p:spPr>
          <a:xfrm>
            <a:off x="5760720" y="2971800"/>
            <a:ext cx="292608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Flow card text"/>
          <p:cNvSpPr txBox="1"/>
          <p:nvPr/>
        </p:nvSpPr>
        <p:spPr>
          <a:xfrm>
            <a:off x="5852160" y="297180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Data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Cafeteria food records</a:t>
            </a:r>
            <a:endParaRPr lang="en-US" sz="1300" dirty="0"/>
          </a:p>
        </p:txBody>
      </p:sp>
      <p:sp>
        <p:nvSpPr>
          <p:cNvPr id="22" name="Flow arrow"/>
          <p:cNvSpPr/>
          <p:nvPr/>
        </p:nvSpPr>
        <p:spPr>
          <a:xfrm>
            <a:off x="7132320" y="3611880"/>
            <a:ext cx="182880" cy="109728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Flow card"/>
          <p:cNvSpPr/>
          <p:nvPr/>
        </p:nvSpPr>
        <p:spPr>
          <a:xfrm>
            <a:off x="5760720" y="3794760"/>
            <a:ext cx="2926080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Flow card text"/>
          <p:cNvSpPr txBox="1"/>
          <p:nvPr/>
        </p:nvSpPr>
        <p:spPr>
          <a:xfrm>
            <a:off x="5852160" y="379476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Solution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Prediction + association analysis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Project Objectives</a:t>
            </a:r>
            <a:endParaRPr lang="en-US" sz="3000" dirty="0"/>
          </a:p>
        </p:txBody>
      </p:sp>
      <p:sp>
        <p:nvSpPr>
          <p:cNvPr id="3" name="Objective row"/>
          <p:cNvSpPr/>
          <p:nvPr/>
        </p:nvSpPr>
        <p:spPr>
          <a:xfrm>
            <a:off x="457200" y="1051560"/>
            <a:ext cx="8229600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Number badge"/>
          <p:cNvSpPr/>
          <p:nvPr/>
        </p:nvSpPr>
        <p:spPr>
          <a:xfrm>
            <a:off x="530352" y="106984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Number"/>
          <p:cNvSpPr txBox="1"/>
          <p:nvPr/>
        </p:nvSpPr>
        <p:spPr>
          <a:xfrm>
            <a:off x="530352" y="1069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Objective text"/>
          <p:cNvSpPr txBox="1"/>
          <p:nvPr/>
        </p:nvSpPr>
        <p:spPr>
          <a:xfrm>
            <a:off x="1051560" y="105156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Analyze cafeteria food preparation, sales and wastage.</a:t>
            </a:r>
            <a:endParaRPr lang="en-US" sz="1400" dirty="0"/>
          </a:p>
        </p:txBody>
      </p:sp>
      <p:sp>
        <p:nvSpPr>
          <p:cNvPr id="7" name="Objective row"/>
          <p:cNvSpPr/>
          <p:nvPr/>
        </p:nvSpPr>
        <p:spPr>
          <a:xfrm>
            <a:off x="457200" y="1508760"/>
            <a:ext cx="8229600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Number badge"/>
          <p:cNvSpPr/>
          <p:nvPr/>
        </p:nvSpPr>
        <p:spPr>
          <a:xfrm>
            <a:off x="530352" y="1527048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Number"/>
          <p:cNvSpPr txBox="1"/>
          <p:nvPr/>
        </p:nvSpPr>
        <p:spPr>
          <a:xfrm>
            <a:off x="530352" y="1527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Objective text"/>
          <p:cNvSpPr txBox="1"/>
          <p:nvPr/>
        </p:nvSpPr>
        <p:spPr>
          <a:xfrm>
            <a:off x="1051560" y="150876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Predict food demand using Linear Regression.</a:t>
            </a:r>
            <a:endParaRPr lang="en-US" sz="1400" dirty="0"/>
          </a:p>
        </p:txBody>
      </p:sp>
      <p:sp>
        <p:nvSpPr>
          <p:cNvPr id="11" name="Objective row"/>
          <p:cNvSpPr/>
          <p:nvPr/>
        </p:nvSpPr>
        <p:spPr>
          <a:xfrm>
            <a:off x="457200" y="1965960"/>
            <a:ext cx="8229600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Number badge"/>
          <p:cNvSpPr/>
          <p:nvPr/>
        </p:nvSpPr>
        <p:spPr>
          <a:xfrm>
            <a:off x="530352" y="198424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Number"/>
          <p:cNvSpPr txBox="1"/>
          <p:nvPr/>
        </p:nvSpPr>
        <p:spPr>
          <a:xfrm>
            <a:off x="530352" y="1984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Objective text"/>
          <p:cNvSpPr txBox="1"/>
          <p:nvPr/>
        </p:nvSpPr>
        <p:spPr>
          <a:xfrm>
            <a:off x="1051560" y="196596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Discover food-item associations using Apriori.</a:t>
            </a:r>
            <a:endParaRPr lang="en-US" sz="1400" dirty="0"/>
          </a:p>
        </p:txBody>
      </p:sp>
      <p:sp>
        <p:nvSpPr>
          <p:cNvPr id="15" name="Objective row"/>
          <p:cNvSpPr/>
          <p:nvPr/>
        </p:nvSpPr>
        <p:spPr>
          <a:xfrm>
            <a:off x="457200" y="2423160"/>
            <a:ext cx="8229600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Number badge"/>
          <p:cNvSpPr/>
          <p:nvPr/>
        </p:nvSpPr>
        <p:spPr>
          <a:xfrm>
            <a:off x="530352" y="2441448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Number"/>
          <p:cNvSpPr txBox="1"/>
          <p:nvPr/>
        </p:nvSpPr>
        <p:spPr>
          <a:xfrm>
            <a:off x="530352" y="2441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Objective text"/>
          <p:cNvSpPr txBox="1"/>
          <p:nvPr/>
        </p:nvSpPr>
        <p:spPr>
          <a:xfrm>
            <a:off x="1051560" y="242316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Identify useful patterns from the generated results.</a:t>
            </a:r>
            <a:endParaRPr lang="en-US" sz="1400" dirty="0"/>
          </a:p>
        </p:txBody>
      </p:sp>
      <p:sp>
        <p:nvSpPr>
          <p:cNvPr id="19" name="Objective row"/>
          <p:cNvSpPr/>
          <p:nvPr/>
        </p:nvSpPr>
        <p:spPr>
          <a:xfrm>
            <a:off x="457200" y="2880360"/>
            <a:ext cx="8229600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Number badge"/>
          <p:cNvSpPr/>
          <p:nvPr/>
        </p:nvSpPr>
        <p:spPr>
          <a:xfrm>
            <a:off x="530352" y="289864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Number"/>
          <p:cNvSpPr txBox="1"/>
          <p:nvPr/>
        </p:nvSpPr>
        <p:spPr>
          <a:xfrm>
            <a:off x="530352" y="28986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Objective text"/>
          <p:cNvSpPr txBox="1"/>
          <p:nvPr/>
        </p:nvSpPr>
        <p:spPr>
          <a:xfrm>
            <a:off x="1051560" y="288036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Visualize analytical findings using Power BI.</a:t>
            </a:r>
            <a:endParaRPr lang="en-US" sz="1400" dirty="0"/>
          </a:p>
        </p:txBody>
      </p:sp>
      <p:sp>
        <p:nvSpPr>
          <p:cNvPr id="23" name="Methodology heading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Project methodology</a:t>
            </a:r>
            <a:endParaRPr lang="en-US" sz="1400" dirty="0"/>
          </a:p>
        </p:txBody>
      </p:sp>
      <p:sp>
        <p:nvSpPr>
          <p:cNvPr id="24" name="Method box"/>
          <p:cNvSpPr/>
          <p:nvPr/>
        </p:nvSpPr>
        <p:spPr>
          <a:xfrm>
            <a:off x="457200" y="3794760"/>
            <a:ext cx="1481328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Method text"/>
          <p:cNvSpPr txBox="1"/>
          <p:nvPr/>
        </p:nvSpPr>
        <p:spPr>
          <a:xfrm>
            <a:off x="502920" y="3794760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Cafeteria food data</a:t>
            </a:r>
            <a:endParaRPr lang="en-US" sz="1100" dirty="0"/>
          </a:p>
        </p:txBody>
      </p:sp>
      <p:sp>
        <p:nvSpPr>
          <p:cNvPr id="26" name="Method arrow"/>
          <p:cNvSpPr/>
          <p:nvPr/>
        </p:nvSpPr>
        <p:spPr>
          <a:xfrm>
            <a:off x="1965960" y="4078224"/>
            <a:ext cx="155448" cy="164592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Method box"/>
          <p:cNvSpPr/>
          <p:nvPr/>
        </p:nvSpPr>
        <p:spPr>
          <a:xfrm>
            <a:off x="2144268" y="3794760"/>
            <a:ext cx="1481328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Method text"/>
          <p:cNvSpPr txBox="1"/>
          <p:nvPr/>
        </p:nvSpPr>
        <p:spPr>
          <a:xfrm>
            <a:off x="2189988" y="3794760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Linear Regression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(demand prediction)</a:t>
            </a:r>
            <a:endParaRPr lang="en-US" sz="1100" dirty="0"/>
          </a:p>
        </p:txBody>
      </p:sp>
      <p:sp>
        <p:nvSpPr>
          <p:cNvPr id="29" name="Method arrow"/>
          <p:cNvSpPr/>
          <p:nvPr/>
        </p:nvSpPr>
        <p:spPr>
          <a:xfrm>
            <a:off x="3653028" y="4078224"/>
            <a:ext cx="155448" cy="164592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Method box"/>
          <p:cNvSpPr/>
          <p:nvPr/>
        </p:nvSpPr>
        <p:spPr>
          <a:xfrm>
            <a:off x="3831336" y="3794760"/>
            <a:ext cx="1481328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Method text"/>
          <p:cNvSpPr txBox="1"/>
          <p:nvPr/>
        </p:nvSpPr>
        <p:spPr>
          <a:xfrm>
            <a:off x="3877056" y="3794760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Apriori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(item associations)</a:t>
            </a:r>
            <a:endParaRPr lang="en-US" sz="1100" dirty="0"/>
          </a:p>
        </p:txBody>
      </p:sp>
      <p:sp>
        <p:nvSpPr>
          <p:cNvPr id="32" name="Method arrow"/>
          <p:cNvSpPr/>
          <p:nvPr/>
        </p:nvSpPr>
        <p:spPr>
          <a:xfrm>
            <a:off x="5340096" y="4078224"/>
            <a:ext cx="155448" cy="164592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Method box"/>
          <p:cNvSpPr/>
          <p:nvPr/>
        </p:nvSpPr>
        <p:spPr>
          <a:xfrm>
            <a:off x="5518404" y="3794760"/>
            <a:ext cx="1481328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Method text"/>
          <p:cNvSpPr txBox="1"/>
          <p:nvPr/>
        </p:nvSpPr>
        <p:spPr>
          <a:xfrm>
            <a:off x="5564124" y="3794760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Power BI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(visualization)</a:t>
            </a:r>
            <a:endParaRPr lang="en-US" sz="1100" dirty="0"/>
          </a:p>
        </p:txBody>
      </p:sp>
      <p:sp>
        <p:nvSpPr>
          <p:cNvPr id="35" name="Method arrow"/>
          <p:cNvSpPr/>
          <p:nvPr/>
        </p:nvSpPr>
        <p:spPr>
          <a:xfrm>
            <a:off x="7027164" y="4078224"/>
            <a:ext cx="155448" cy="164592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Method box"/>
          <p:cNvSpPr/>
          <p:nvPr/>
        </p:nvSpPr>
        <p:spPr>
          <a:xfrm>
            <a:off x="7205472" y="3794760"/>
            <a:ext cx="1481328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Method text"/>
          <p:cNvSpPr txBox="1"/>
          <p:nvPr/>
        </p:nvSpPr>
        <p:spPr>
          <a:xfrm>
            <a:off x="7251192" y="3794760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Insights for food planning</a:t>
            </a:r>
            <a:endParaRPr lang="en-US" sz="11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Data Mining Algorithms Used</a:t>
            </a:r>
            <a:endParaRPr lang="en-US" sz="3000" dirty="0"/>
          </a:p>
        </p:txBody>
      </p:sp>
      <p:sp>
        <p:nvSpPr>
          <p:cNvPr id="3" name="Algorithm card"/>
          <p:cNvSpPr/>
          <p:nvPr/>
        </p:nvSpPr>
        <p:spPr>
          <a:xfrm>
            <a:off x="457200" y="1051560"/>
            <a:ext cx="4023360" cy="288036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Algorithm header"/>
          <p:cNvSpPr/>
          <p:nvPr/>
        </p:nvSpPr>
        <p:spPr>
          <a:xfrm>
            <a:off x="457200" y="1051560"/>
            <a:ext cx="402336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Algorithm name"/>
          <p:cNvSpPr txBox="1"/>
          <p:nvPr/>
        </p:nvSpPr>
        <p:spPr>
          <a:xfrm>
            <a:off x="594360" y="1051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Regression</a:t>
            </a:r>
            <a:endParaRPr lang="en-US" sz="1600" dirty="0"/>
          </a:p>
        </p:txBody>
      </p:sp>
      <p:sp>
        <p:nvSpPr>
          <p:cNvPr id="6" name="Algorithm detail"/>
          <p:cNvSpPr txBox="1"/>
          <p:nvPr/>
        </p:nvSpPr>
        <p:spPr>
          <a:xfrm>
            <a:off x="640080" y="173736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Purpose</a:t>
            </a:r>
            <a:endParaRPr lang="en-US" sz="12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Demand Prediction</a:t>
            </a:r>
            <a:endParaRPr lang="en-US" sz="1200" dirty="0"/>
          </a:p>
        </p:txBody>
      </p:sp>
      <p:sp>
        <p:nvSpPr>
          <p:cNvPr id="7" name="Algorithm detail"/>
          <p:cNvSpPr txBox="1"/>
          <p:nvPr/>
        </p:nvSpPr>
        <p:spPr>
          <a:xfrm>
            <a:off x="640080" y="245059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Question answered</a:t>
            </a:r>
            <a:endParaRPr lang="en-US" sz="12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“How much food demand can we expect?”</a:t>
            </a:r>
            <a:endParaRPr lang="en-US" sz="1200" dirty="0"/>
          </a:p>
        </p:txBody>
      </p:sp>
      <p:sp>
        <p:nvSpPr>
          <p:cNvPr id="8" name="Algorithm detail"/>
          <p:cNvSpPr txBox="1"/>
          <p:nvPr/>
        </p:nvSpPr>
        <p:spPr>
          <a:xfrm>
            <a:off x="640080" y="316382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Output</a:t>
            </a:r>
            <a:endParaRPr lang="en-US" sz="12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Actual Demand vs Predicted Demand</a:t>
            </a:r>
            <a:endParaRPr lang="en-US" sz="1200" dirty="0"/>
          </a:p>
        </p:txBody>
      </p:sp>
      <p:sp>
        <p:nvSpPr>
          <p:cNvPr id="9" name="Algorithm card"/>
          <p:cNvSpPr/>
          <p:nvPr/>
        </p:nvSpPr>
        <p:spPr>
          <a:xfrm>
            <a:off x="4663440" y="1051560"/>
            <a:ext cx="4023360" cy="288036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Algorithm header"/>
          <p:cNvSpPr/>
          <p:nvPr/>
        </p:nvSpPr>
        <p:spPr>
          <a:xfrm>
            <a:off x="4663440" y="1051560"/>
            <a:ext cx="4023360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Algorithm name"/>
          <p:cNvSpPr txBox="1"/>
          <p:nvPr/>
        </p:nvSpPr>
        <p:spPr>
          <a:xfrm>
            <a:off x="4800600" y="1051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Apriori Association Rule Mining</a:t>
            </a:r>
            <a:endParaRPr lang="en-US" sz="1600" dirty="0"/>
          </a:p>
        </p:txBody>
      </p:sp>
      <p:sp>
        <p:nvSpPr>
          <p:cNvPr id="12" name="Algorithm detail"/>
          <p:cNvSpPr txBox="1"/>
          <p:nvPr/>
        </p:nvSpPr>
        <p:spPr>
          <a:xfrm>
            <a:off x="4846320" y="173736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Purpose</a:t>
            </a:r>
            <a:endParaRPr lang="en-US" sz="12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Food-item Association Analysis</a:t>
            </a:r>
            <a:endParaRPr lang="en-US" sz="1200" dirty="0"/>
          </a:p>
        </p:txBody>
      </p:sp>
      <p:sp>
        <p:nvSpPr>
          <p:cNvPr id="13" name="Algorithm detail"/>
          <p:cNvSpPr txBox="1"/>
          <p:nvPr/>
        </p:nvSpPr>
        <p:spPr>
          <a:xfrm>
            <a:off x="4846320" y="245059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Question answered</a:t>
            </a:r>
            <a:endParaRPr lang="en-US" sz="12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“Which food items are frequently associated?”</a:t>
            </a:r>
            <a:endParaRPr lang="en-US" sz="1200" dirty="0"/>
          </a:p>
        </p:txBody>
      </p:sp>
      <p:sp>
        <p:nvSpPr>
          <p:cNvPr id="14" name="Algorithm detail"/>
          <p:cNvSpPr txBox="1"/>
          <p:nvPr/>
        </p:nvSpPr>
        <p:spPr>
          <a:xfrm>
            <a:off x="4846320" y="316382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Output</a:t>
            </a:r>
            <a:endParaRPr lang="en-US" sz="12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Association Rules with Support, Confidence and Lift</a:t>
            </a:r>
            <a:endParaRPr lang="en-US" sz="1200" dirty="0"/>
          </a:p>
        </p:txBody>
      </p:sp>
      <p:sp>
        <p:nvSpPr>
          <p:cNvPr id="15" name="Complementary note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chemeClr val="tx2"/>
                </a:solidFill>
              </a:rPr>
              <a:t>These two algorithms address two different but complementary analytical objectives.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How Linear Regression Works</a:t>
            </a:r>
            <a:endParaRPr lang="en-US" sz="3000" dirty="0"/>
          </a:p>
        </p:txBody>
      </p:sp>
      <p:sp>
        <p:nvSpPr>
          <p:cNvPr id="3" name="Flow step"/>
          <p:cNvSpPr/>
          <p:nvPr/>
        </p:nvSpPr>
        <p:spPr>
          <a:xfrm>
            <a:off x="457200" y="1051560"/>
            <a:ext cx="393192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Flow step text"/>
          <p:cNvSpPr txBox="1"/>
          <p:nvPr/>
        </p:nvSpPr>
        <p:spPr>
          <a:xfrm>
            <a:off x="548640" y="10515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Food Dataset</a:t>
            </a:r>
            <a:endParaRPr lang="en-US" sz="1200" dirty="0"/>
          </a:p>
        </p:txBody>
      </p:sp>
      <p:sp>
        <p:nvSpPr>
          <p:cNvPr id="5" name="Flow arrow"/>
          <p:cNvSpPr/>
          <p:nvPr/>
        </p:nvSpPr>
        <p:spPr>
          <a:xfrm>
            <a:off x="2331720" y="1458468"/>
            <a:ext cx="182880" cy="109728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Flow step"/>
          <p:cNvSpPr/>
          <p:nvPr/>
        </p:nvSpPr>
        <p:spPr>
          <a:xfrm>
            <a:off x="457200" y="1591056"/>
            <a:ext cx="393192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Flow step text"/>
          <p:cNvSpPr txBox="1"/>
          <p:nvPr/>
        </p:nvSpPr>
        <p:spPr>
          <a:xfrm>
            <a:off x="548640" y="15910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Select / Input Features</a:t>
            </a:r>
            <a:endParaRPr lang="en-US" sz="1200" dirty="0"/>
          </a:p>
        </p:txBody>
      </p:sp>
      <p:sp>
        <p:nvSpPr>
          <p:cNvPr id="8" name="Flow arrow"/>
          <p:cNvSpPr/>
          <p:nvPr/>
        </p:nvSpPr>
        <p:spPr>
          <a:xfrm>
            <a:off x="2331720" y="1997964"/>
            <a:ext cx="182880" cy="109728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Flow step"/>
          <p:cNvSpPr/>
          <p:nvPr/>
        </p:nvSpPr>
        <p:spPr>
          <a:xfrm>
            <a:off x="457200" y="2130552"/>
            <a:ext cx="393192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Flow step text"/>
          <p:cNvSpPr txBox="1"/>
          <p:nvPr/>
        </p:nvSpPr>
        <p:spPr>
          <a:xfrm>
            <a:off x="548640" y="213055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Train Linear Regression Model</a:t>
            </a:r>
            <a:endParaRPr lang="en-US" sz="1200" dirty="0"/>
          </a:p>
        </p:txBody>
      </p:sp>
      <p:sp>
        <p:nvSpPr>
          <p:cNvPr id="11" name="Flow arrow"/>
          <p:cNvSpPr/>
          <p:nvPr/>
        </p:nvSpPr>
        <p:spPr>
          <a:xfrm>
            <a:off x="2331720" y="2537460"/>
            <a:ext cx="182880" cy="109728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Flow step"/>
          <p:cNvSpPr/>
          <p:nvPr/>
        </p:nvSpPr>
        <p:spPr>
          <a:xfrm>
            <a:off x="457200" y="2670048"/>
            <a:ext cx="393192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Flow step text"/>
          <p:cNvSpPr txBox="1"/>
          <p:nvPr/>
        </p:nvSpPr>
        <p:spPr>
          <a:xfrm>
            <a:off x="548640" y="267004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Learn relationship: inputs → demand</a:t>
            </a:r>
            <a:endParaRPr lang="en-US" sz="1200" dirty="0"/>
          </a:p>
        </p:txBody>
      </p:sp>
      <p:sp>
        <p:nvSpPr>
          <p:cNvPr id="14" name="Flow arrow"/>
          <p:cNvSpPr/>
          <p:nvPr/>
        </p:nvSpPr>
        <p:spPr>
          <a:xfrm>
            <a:off x="2331720" y="3076956"/>
            <a:ext cx="182880" cy="109728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Flow step"/>
          <p:cNvSpPr/>
          <p:nvPr/>
        </p:nvSpPr>
        <p:spPr>
          <a:xfrm>
            <a:off x="457200" y="3209544"/>
            <a:ext cx="393192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Flow step text"/>
          <p:cNvSpPr txBox="1"/>
          <p:nvPr/>
        </p:nvSpPr>
        <p:spPr>
          <a:xfrm>
            <a:off x="548640" y="320954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Predict Demand</a:t>
            </a:r>
            <a:endParaRPr lang="en-US" sz="1200" dirty="0"/>
          </a:p>
        </p:txBody>
      </p:sp>
      <p:sp>
        <p:nvSpPr>
          <p:cNvPr id="17" name="Flow arrow"/>
          <p:cNvSpPr/>
          <p:nvPr/>
        </p:nvSpPr>
        <p:spPr>
          <a:xfrm>
            <a:off x="2331720" y="3616452"/>
            <a:ext cx="182880" cy="109728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Flow step"/>
          <p:cNvSpPr/>
          <p:nvPr/>
        </p:nvSpPr>
        <p:spPr>
          <a:xfrm>
            <a:off x="457200" y="3749040"/>
            <a:ext cx="393192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Flow step text"/>
          <p:cNvSpPr txBox="1"/>
          <p:nvPr/>
        </p:nvSpPr>
        <p:spPr>
          <a:xfrm>
            <a:off x="548640" y="37490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Compare Actual vs Predicted</a:t>
            </a:r>
            <a:endParaRPr lang="en-US" sz="1200" dirty="0"/>
          </a:p>
        </p:txBody>
      </p:sp>
      <p:sp>
        <p:nvSpPr>
          <p:cNvPr id="20" name="Flow arrow"/>
          <p:cNvSpPr/>
          <p:nvPr/>
        </p:nvSpPr>
        <p:spPr>
          <a:xfrm>
            <a:off x="2331720" y="4155948"/>
            <a:ext cx="182880" cy="109728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Flow step"/>
          <p:cNvSpPr/>
          <p:nvPr/>
        </p:nvSpPr>
        <p:spPr>
          <a:xfrm>
            <a:off x="457200" y="4288536"/>
            <a:ext cx="3931920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Flow step text"/>
          <p:cNvSpPr txBox="1"/>
          <p:nvPr/>
        </p:nvSpPr>
        <p:spPr>
          <a:xfrm>
            <a:off x="548640" y="42885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Evaluate: MAE, RMSE and R²</a:t>
            </a:r>
            <a:endParaRPr lang="en-US" sz="1200" dirty="0"/>
          </a:p>
        </p:txBody>
      </p:sp>
      <p:sp>
        <p:nvSpPr>
          <p:cNvPr id="23" name="Explanation card"/>
          <p:cNvSpPr/>
          <p:nvPr/>
        </p:nvSpPr>
        <p:spPr>
          <a:xfrm>
            <a:off x="4754880" y="1051560"/>
            <a:ext cx="393192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gression explanation"/>
          <p:cNvSpPr txBox="1"/>
          <p:nvPr/>
        </p:nvSpPr>
        <p:spPr>
          <a:xfrm>
            <a:off x="4937760" y="105156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Linear Regression learns the relationship between input variables and food demand and uses that relationship to estimate demand.</a:t>
            </a:r>
            <a:endParaRPr lang="en-US" sz="1400" dirty="0"/>
          </a:p>
        </p:txBody>
      </p:sp>
      <p:sp>
        <p:nvSpPr>
          <p:cNvPr id="25" name="Metric card"/>
          <p:cNvSpPr/>
          <p:nvPr/>
        </p:nvSpPr>
        <p:spPr>
          <a:xfrm>
            <a:off x="4754880" y="2468880"/>
            <a:ext cx="393192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Metric name"/>
          <p:cNvSpPr txBox="1"/>
          <p:nvPr/>
        </p:nvSpPr>
        <p:spPr>
          <a:xfrm>
            <a:off x="4846320" y="2468880"/>
            <a:ext cx="731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MAE</a:t>
            </a:r>
            <a:endParaRPr lang="en-US" sz="1600" dirty="0"/>
          </a:p>
        </p:txBody>
      </p:sp>
      <p:sp>
        <p:nvSpPr>
          <p:cNvPr id="27" name="Metric meaning"/>
          <p:cNvSpPr txBox="1"/>
          <p:nvPr/>
        </p:nvSpPr>
        <p:spPr>
          <a:xfrm>
            <a:off x="5623560" y="2468880"/>
            <a:ext cx="2971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Average size of the prediction error</a:t>
            </a:r>
            <a:endParaRPr lang="en-US" sz="1200" dirty="0"/>
          </a:p>
        </p:txBody>
      </p:sp>
      <p:sp>
        <p:nvSpPr>
          <p:cNvPr id="28" name="Metric card"/>
          <p:cNvSpPr/>
          <p:nvPr/>
        </p:nvSpPr>
        <p:spPr>
          <a:xfrm>
            <a:off x="4754880" y="3154680"/>
            <a:ext cx="393192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Metric name"/>
          <p:cNvSpPr txBox="1"/>
          <p:nvPr/>
        </p:nvSpPr>
        <p:spPr>
          <a:xfrm>
            <a:off x="4846320" y="3154680"/>
            <a:ext cx="731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RMSE</a:t>
            </a:r>
            <a:endParaRPr lang="en-US" sz="1600" dirty="0"/>
          </a:p>
        </p:txBody>
      </p:sp>
      <p:sp>
        <p:nvSpPr>
          <p:cNvPr id="30" name="Metric meaning"/>
          <p:cNvSpPr txBox="1"/>
          <p:nvPr/>
        </p:nvSpPr>
        <p:spPr>
          <a:xfrm>
            <a:off x="5623560" y="3154680"/>
            <a:ext cx="2971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Like MAE, but penalizes large errors more</a:t>
            </a:r>
            <a:endParaRPr lang="en-US" sz="1200" dirty="0"/>
          </a:p>
        </p:txBody>
      </p:sp>
      <p:sp>
        <p:nvSpPr>
          <p:cNvPr id="31" name="Metric card"/>
          <p:cNvSpPr/>
          <p:nvPr/>
        </p:nvSpPr>
        <p:spPr>
          <a:xfrm>
            <a:off x="4754880" y="3840480"/>
            <a:ext cx="393192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Metric name"/>
          <p:cNvSpPr txBox="1"/>
          <p:nvPr/>
        </p:nvSpPr>
        <p:spPr>
          <a:xfrm>
            <a:off x="4846320" y="3840480"/>
            <a:ext cx="7315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</a:t>
            </a:r>
            <a:endParaRPr lang="en-US" sz="1600" dirty="0"/>
          </a:p>
        </p:txBody>
      </p:sp>
      <p:sp>
        <p:nvSpPr>
          <p:cNvPr id="33" name="Metric meaning"/>
          <p:cNvSpPr txBox="1"/>
          <p:nvPr/>
        </p:nvSpPr>
        <p:spPr>
          <a:xfrm>
            <a:off x="5623560" y="3840480"/>
            <a:ext cx="2971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Share of demand variation explained by the model</a:t>
            </a:r>
            <a:endParaRPr lang="en-US" sz="1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Linear Regression — Python Implementation</a:t>
            </a:r>
            <a:endParaRPr lang="en-US" sz="3000" dirty="0"/>
          </a:p>
        </p:txBody>
      </p:sp>
      <p:sp>
        <p:nvSpPr>
          <p:cNvPr id="7" name="Stat card"/>
          <p:cNvSpPr/>
          <p:nvPr/>
        </p:nvSpPr>
        <p:spPr>
          <a:xfrm>
            <a:off x="5760720" y="1051560"/>
            <a:ext cx="9144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tat value"/>
          <p:cNvSpPr txBox="1"/>
          <p:nvPr/>
        </p:nvSpPr>
        <p:spPr>
          <a:xfrm>
            <a:off x="5852160" y="10972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47.93</a:t>
            </a:r>
            <a:endParaRPr lang="en-US" sz="1800" dirty="0"/>
          </a:p>
        </p:txBody>
      </p:sp>
      <p:sp>
        <p:nvSpPr>
          <p:cNvPr id="9" name="Stat label"/>
          <p:cNvSpPr txBox="1"/>
          <p:nvPr/>
        </p:nvSpPr>
        <p:spPr>
          <a:xfrm>
            <a:off x="5852160" y="1581912"/>
            <a:ext cx="731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MAE</a:t>
            </a:r>
            <a:endParaRPr lang="en-US" sz="1100" dirty="0"/>
          </a:p>
        </p:txBody>
      </p:sp>
      <p:sp>
        <p:nvSpPr>
          <p:cNvPr id="10" name="Stat card"/>
          <p:cNvSpPr/>
          <p:nvPr/>
        </p:nvSpPr>
        <p:spPr>
          <a:xfrm>
            <a:off x="6748272" y="1051560"/>
            <a:ext cx="9144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tat value"/>
          <p:cNvSpPr txBox="1"/>
          <p:nvPr/>
        </p:nvSpPr>
        <p:spPr>
          <a:xfrm>
            <a:off x="6839712" y="10972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68.42</a:t>
            </a:r>
            <a:endParaRPr lang="en-US" sz="1800" dirty="0"/>
          </a:p>
        </p:txBody>
      </p:sp>
      <p:sp>
        <p:nvSpPr>
          <p:cNvPr id="12" name="Stat label"/>
          <p:cNvSpPr txBox="1"/>
          <p:nvPr/>
        </p:nvSpPr>
        <p:spPr>
          <a:xfrm>
            <a:off x="6839712" y="1581912"/>
            <a:ext cx="731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RMSE</a:t>
            </a:r>
            <a:endParaRPr lang="en-US" sz="1100" dirty="0"/>
          </a:p>
        </p:txBody>
      </p:sp>
      <p:sp>
        <p:nvSpPr>
          <p:cNvPr id="13" name="Stat card"/>
          <p:cNvSpPr/>
          <p:nvPr/>
        </p:nvSpPr>
        <p:spPr>
          <a:xfrm>
            <a:off x="7735824" y="1051560"/>
            <a:ext cx="9144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tat value"/>
          <p:cNvSpPr txBox="1"/>
          <p:nvPr/>
        </p:nvSpPr>
        <p:spPr>
          <a:xfrm>
            <a:off x="7827264" y="10972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0.8828</a:t>
            </a:r>
            <a:endParaRPr lang="en-US" sz="1800" dirty="0"/>
          </a:p>
        </p:txBody>
      </p:sp>
      <p:sp>
        <p:nvSpPr>
          <p:cNvPr id="15" name="Stat label"/>
          <p:cNvSpPr txBox="1"/>
          <p:nvPr/>
        </p:nvSpPr>
        <p:spPr>
          <a:xfrm>
            <a:off x="7827264" y="1581912"/>
            <a:ext cx="731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R²</a:t>
            </a:r>
            <a:endParaRPr lang="en-US" sz="1100" dirty="0"/>
          </a:p>
        </p:txBody>
      </p:sp>
      <p:sp>
        <p:nvSpPr>
          <p:cNvPr id="16" name="Average demand card"/>
          <p:cNvSpPr/>
          <p:nvPr/>
        </p:nvSpPr>
        <p:spPr>
          <a:xfrm>
            <a:off x="5760720" y="2148840"/>
            <a:ext cx="292608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Average actual text"/>
          <p:cNvSpPr txBox="1"/>
          <p:nvPr/>
        </p:nvSpPr>
        <p:spPr>
          <a:xfrm>
            <a:off x="5852160" y="219456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Average Actual Demand</a:t>
            </a:r>
            <a:endParaRPr lang="en-US" sz="1200" dirty="0"/>
          </a:p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239.25</a:t>
            </a:r>
            <a:endParaRPr lang="en-US" sz="1200" dirty="0"/>
          </a:p>
        </p:txBody>
      </p:sp>
      <p:sp>
        <p:nvSpPr>
          <p:cNvPr id="18" name="Average predicted text"/>
          <p:cNvSpPr txBox="1"/>
          <p:nvPr/>
        </p:nvSpPr>
        <p:spPr>
          <a:xfrm>
            <a:off x="5852160" y="281635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Average Predicted Demand</a:t>
            </a:r>
            <a:endParaRPr lang="en-US" sz="1200" dirty="0"/>
          </a:p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248.36</a:t>
            </a:r>
            <a:endParaRPr lang="en-US" sz="1200" dirty="0"/>
          </a:p>
        </p:txBody>
      </p:sp>
      <p:sp>
        <p:nvSpPr>
          <p:cNvPr id="19" name="Metric note"/>
          <p:cNvSpPr txBox="1"/>
          <p:nvPr/>
        </p:nvSpPr>
        <p:spPr>
          <a:xfrm>
            <a:off x="5760720" y="3657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Regression is evaluated with MAE, RMSE and R².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26" name="Picture 25" descr="linear_regression_actual_code_out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95" y="914400"/>
            <a:ext cx="5120640" cy="3611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4553712"/>
            <a:ext cx="4846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5F5F5F"/>
                </a:solidFill>
              </a:defRPr>
            </a:pPr>
            <a:r>
              <a:t>Actual project code and output: prediction generation + MAE/RMSE/R² evaluation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Apriori Association Rule Mining</a:t>
            </a:r>
            <a:endParaRPr lang="en-US" sz="3000" dirty="0"/>
          </a:p>
        </p:txBody>
      </p:sp>
      <p:sp>
        <p:nvSpPr>
          <p:cNvPr id="3" name="Flow step"/>
          <p:cNvSpPr/>
          <p:nvPr/>
        </p:nvSpPr>
        <p:spPr>
          <a:xfrm>
            <a:off x="457200" y="1051560"/>
            <a:ext cx="3291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Flow step text"/>
          <p:cNvSpPr txBox="1"/>
          <p:nvPr/>
        </p:nvSpPr>
        <p:spPr>
          <a:xfrm>
            <a:off x="548640" y="10515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Food Transaction Data</a:t>
            </a:r>
            <a:endParaRPr lang="en-US" sz="1200" dirty="0"/>
          </a:p>
        </p:txBody>
      </p:sp>
      <p:sp>
        <p:nvSpPr>
          <p:cNvPr id="5" name="Flow arrow"/>
          <p:cNvSpPr/>
          <p:nvPr/>
        </p:nvSpPr>
        <p:spPr>
          <a:xfrm>
            <a:off x="2011680" y="1458468"/>
            <a:ext cx="182880" cy="109728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Flow step"/>
          <p:cNvSpPr/>
          <p:nvPr/>
        </p:nvSpPr>
        <p:spPr>
          <a:xfrm>
            <a:off x="457200" y="1591056"/>
            <a:ext cx="3291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Flow step text"/>
          <p:cNvSpPr txBox="1"/>
          <p:nvPr/>
        </p:nvSpPr>
        <p:spPr>
          <a:xfrm>
            <a:off x="548640" y="159105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Create Transactions</a:t>
            </a:r>
            <a:endParaRPr lang="en-US" sz="1200" dirty="0"/>
          </a:p>
        </p:txBody>
      </p:sp>
      <p:sp>
        <p:nvSpPr>
          <p:cNvPr id="8" name="Flow arrow"/>
          <p:cNvSpPr/>
          <p:nvPr/>
        </p:nvSpPr>
        <p:spPr>
          <a:xfrm>
            <a:off x="2011680" y="1997964"/>
            <a:ext cx="182880" cy="109728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Flow step"/>
          <p:cNvSpPr/>
          <p:nvPr/>
        </p:nvSpPr>
        <p:spPr>
          <a:xfrm>
            <a:off x="457200" y="2130552"/>
            <a:ext cx="3291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Flow step text"/>
          <p:cNvSpPr txBox="1"/>
          <p:nvPr/>
        </p:nvSpPr>
        <p:spPr>
          <a:xfrm>
            <a:off x="548640" y="213055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Find Frequent Itemsets</a:t>
            </a:r>
            <a:endParaRPr lang="en-US" sz="1200" dirty="0"/>
          </a:p>
        </p:txBody>
      </p:sp>
      <p:sp>
        <p:nvSpPr>
          <p:cNvPr id="11" name="Flow arrow"/>
          <p:cNvSpPr/>
          <p:nvPr/>
        </p:nvSpPr>
        <p:spPr>
          <a:xfrm>
            <a:off x="2011680" y="2537460"/>
            <a:ext cx="182880" cy="109728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Flow step"/>
          <p:cNvSpPr/>
          <p:nvPr/>
        </p:nvSpPr>
        <p:spPr>
          <a:xfrm>
            <a:off x="457200" y="2670048"/>
            <a:ext cx="3291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Flow step text"/>
          <p:cNvSpPr txBox="1"/>
          <p:nvPr/>
        </p:nvSpPr>
        <p:spPr>
          <a:xfrm>
            <a:off x="548640" y="267004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Generate Association Rules</a:t>
            </a:r>
            <a:endParaRPr lang="en-US" sz="1200" dirty="0"/>
          </a:p>
        </p:txBody>
      </p:sp>
      <p:sp>
        <p:nvSpPr>
          <p:cNvPr id="14" name="Flow arrow"/>
          <p:cNvSpPr/>
          <p:nvPr/>
        </p:nvSpPr>
        <p:spPr>
          <a:xfrm>
            <a:off x="2011680" y="3076956"/>
            <a:ext cx="182880" cy="109728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Flow step"/>
          <p:cNvSpPr/>
          <p:nvPr/>
        </p:nvSpPr>
        <p:spPr>
          <a:xfrm>
            <a:off x="457200" y="3209544"/>
            <a:ext cx="3291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Flow step text"/>
          <p:cNvSpPr txBox="1"/>
          <p:nvPr/>
        </p:nvSpPr>
        <p:spPr>
          <a:xfrm>
            <a:off x="548640" y="320954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Evaluate Rules</a:t>
            </a:r>
            <a:endParaRPr lang="en-US" sz="1200" dirty="0"/>
          </a:p>
        </p:txBody>
      </p:sp>
      <p:sp>
        <p:nvSpPr>
          <p:cNvPr id="17" name="Flow arrow"/>
          <p:cNvSpPr/>
          <p:nvPr/>
        </p:nvSpPr>
        <p:spPr>
          <a:xfrm>
            <a:off x="2011680" y="3616452"/>
            <a:ext cx="182880" cy="109728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Flow step"/>
          <p:cNvSpPr/>
          <p:nvPr/>
        </p:nvSpPr>
        <p:spPr>
          <a:xfrm>
            <a:off x="457200" y="3749040"/>
            <a:ext cx="3291840" cy="3840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Flow step text"/>
          <p:cNvSpPr txBox="1"/>
          <p:nvPr/>
        </p:nvSpPr>
        <p:spPr>
          <a:xfrm>
            <a:off x="548640" y="37490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Support + Confidence + Lift</a:t>
            </a:r>
            <a:endParaRPr lang="en-US" sz="1200" dirty="0"/>
          </a:p>
        </p:txBody>
      </p:sp>
      <p:sp>
        <p:nvSpPr>
          <p:cNvPr id="20" name="Flow arrow"/>
          <p:cNvSpPr/>
          <p:nvPr/>
        </p:nvSpPr>
        <p:spPr>
          <a:xfrm>
            <a:off x="2011680" y="4155948"/>
            <a:ext cx="182880" cy="109728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Flow step"/>
          <p:cNvSpPr/>
          <p:nvPr/>
        </p:nvSpPr>
        <p:spPr>
          <a:xfrm>
            <a:off x="457200" y="4288536"/>
            <a:ext cx="3291840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Flow step text"/>
          <p:cNvSpPr txBox="1"/>
          <p:nvPr/>
        </p:nvSpPr>
        <p:spPr>
          <a:xfrm>
            <a:off x="548640" y="428853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Identify Strong Associations</a:t>
            </a:r>
            <a:endParaRPr lang="en-US" sz="1200" dirty="0"/>
          </a:p>
        </p:txBody>
      </p:sp>
      <p:sp>
        <p:nvSpPr>
          <p:cNvPr id="23" name="Apriori explanation"/>
          <p:cNvSpPr txBox="1"/>
          <p:nvPr/>
        </p:nvSpPr>
        <p:spPr>
          <a:xfrm>
            <a:off x="4023360" y="105156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Apriori identifies items that frequently occur together in transactions and generates association rules.</a:t>
            </a:r>
            <a:endParaRPr lang="en-US" sz="1400" dirty="0"/>
          </a:p>
        </p:txBody>
      </p:sp>
      <p:sp>
        <p:nvSpPr>
          <p:cNvPr id="24" name="Measure card"/>
          <p:cNvSpPr/>
          <p:nvPr/>
        </p:nvSpPr>
        <p:spPr>
          <a:xfrm>
            <a:off x="4023360" y="1783080"/>
            <a:ext cx="466344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Measure name"/>
          <p:cNvSpPr txBox="1"/>
          <p:nvPr/>
        </p:nvSpPr>
        <p:spPr>
          <a:xfrm>
            <a:off x="4114800" y="1783080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</a:t>
            </a:r>
            <a:endParaRPr lang="en-US" sz="1400" dirty="0"/>
          </a:p>
        </p:txBody>
      </p:sp>
      <p:sp>
        <p:nvSpPr>
          <p:cNvPr id="26" name="Measure meaning"/>
          <p:cNvSpPr txBox="1"/>
          <p:nvPr/>
        </p:nvSpPr>
        <p:spPr>
          <a:xfrm>
            <a:off x="5166360" y="1783080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How frequently the combination occurs.</a:t>
            </a:r>
            <a:endParaRPr lang="en-US" sz="1200" dirty="0"/>
          </a:p>
        </p:txBody>
      </p:sp>
      <p:sp>
        <p:nvSpPr>
          <p:cNvPr id="27" name="Measure card"/>
          <p:cNvSpPr/>
          <p:nvPr/>
        </p:nvSpPr>
        <p:spPr>
          <a:xfrm>
            <a:off x="4023360" y="2496312"/>
            <a:ext cx="466344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Measure name"/>
          <p:cNvSpPr txBox="1"/>
          <p:nvPr/>
        </p:nvSpPr>
        <p:spPr>
          <a:xfrm>
            <a:off x="4114800" y="2496312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</a:t>
            </a:r>
            <a:endParaRPr lang="en-US" sz="1400" dirty="0"/>
          </a:p>
        </p:txBody>
      </p:sp>
      <p:sp>
        <p:nvSpPr>
          <p:cNvPr id="29" name="Measure meaning"/>
          <p:cNvSpPr txBox="1"/>
          <p:nvPr/>
        </p:nvSpPr>
        <p:spPr>
          <a:xfrm>
            <a:off x="5166360" y="2496312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How often the consequent appears when the antecedent appears.</a:t>
            </a:r>
            <a:endParaRPr lang="en-US" sz="1200" dirty="0"/>
          </a:p>
        </p:txBody>
      </p:sp>
      <p:sp>
        <p:nvSpPr>
          <p:cNvPr id="30" name="Measure card"/>
          <p:cNvSpPr/>
          <p:nvPr/>
        </p:nvSpPr>
        <p:spPr>
          <a:xfrm>
            <a:off x="4023360" y="3209544"/>
            <a:ext cx="466344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Measure name"/>
          <p:cNvSpPr txBox="1"/>
          <p:nvPr/>
        </p:nvSpPr>
        <p:spPr>
          <a:xfrm>
            <a:off x="4114800" y="3209544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Lift</a:t>
            </a:r>
            <a:endParaRPr lang="en-US" sz="1400" dirty="0"/>
          </a:p>
        </p:txBody>
      </p:sp>
      <p:sp>
        <p:nvSpPr>
          <p:cNvPr id="32" name="Measure meaning"/>
          <p:cNvSpPr txBox="1"/>
          <p:nvPr/>
        </p:nvSpPr>
        <p:spPr>
          <a:xfrm>
            <a:off x="5166360" y="3209544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How much stronger the association is compared with random occurrence.</a:t>
            </a:r>
            <a:endParaRPr lang="en-US" sz="1200" dirty="0"/>
          </a:p>
        </p:txBody>
      </p:sp>
      <p:sp>
        <p:nvSpPr>
          <p:cNvPr id="33" name="Causation note"/>
          <p:cNvSpPr/>
          <p:nvPr/>
        </p:nvSpPr>
        <p:spPr>
          <a:xfrm>
            <a:off x="4023360" y="3977640"/>
            <a:ext cx="466344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Causation text"/>
          <p:cNvSpPr txBox="1"/>
          <p:nvPr/>
        </p:nvSpPr>
        <p:spPr>
          <a:xfrm>
            <a:off x="4114800" y="39776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Association does NOT imply causation.</a:t>
            </a:r>
            <a:endParaRPr lang="en-US" sz="14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Apriori — Python Implementation &amp; Results</a:t>
            </a:r>
            <a:endParaRPr lang="en-US" sz="3000" dirty="0"/>
          </a:p>
        </p:txBody>
      </p:sp>
      <p:sp>
        <p:nvSpPr>
          <p:cNvPr id="5" name="Stat card"/>
          <p:cNvSpPr/>
          <p:nvPr/>
        </p:nvSpPr>
        <p:spPr>
          <a:xfrm>
            <a:off x="5760720" y="1051560"/>
            <a:ext cx="29260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tat value"/>
          <p:cNvSpPr txBox="1"/>
          <p:nvPr/>
        </p:nvSpPr>
        <p:spPr>
          <a:xfrm>
            <a:off x="5852160" y="1097280"/>
            <a:ext cx="27432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271</a:t>
            </a:r>
            <a:endParaRPr lang="en-US" sz="3600" dirty="0"/>
          </a:p>
        </p:txBody>
      </p:sp>
      <p:sp>
        <p:nvSpPr>
          <p:cNvPr id="7" name="Stat label"/>
          <p:cNvSpPr txBox="1"/>
          <p:nvPr/>
        </p:nvSpPr>
        <p:spPr>
          <a:xfrm>
            <a:off x="5852160" y="1634947"/>
            <a:ext cx="27432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accent6"/>
                </a:solidFill>
              </a:rPr>
              <a:t>association rules generated</a:t>
            </a:r>
            <a:endParaRPr lang="en-US" sz="1100" dirty="0"/>
          </a:p>
        </p:txBody>
      </p:sp>
      <p:sp>
        <p:nvSpPr>
          <p:cNvPr id="8" name="Rule table heading"/>
          <p:cNvSpPr txBox="1"/>
          <p:nvPr/>
        </p:nvSpPr>
        <p:spPr>
          <a:xfrm>
            <a:off x="5760720" y="2194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Example rule from the output</a:t>
            </a:r>
            <a:endParaRPr lang="en-US" sz="1200" dirty="0"/>
          </a:p>
        </p:txBody>
      </p:sp>
      <p:graphicFrame>
        <p:nvGraphicFramePr>
          <p:cNvPr id="11" name="Apriori rul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78360"/>
              </p:ext>
            </p:extLst>
          </p:nvPr>
        </p:nvGraphicFramePr>
        <p:xfrm>
          <a:off x="5773420" y="2514600"/>
          <a:ext cx="2926080" cy="146304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1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1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43A"/>
                          </a:solidFill>
                        </a:rPr>
                        <a:t>Rule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243A"/>
                          </a:solidFill>
                        </a:rPr>
                        <a:t>Lemon Juice → Coffee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43A"/>
                          </a:solidFill>
                        </a:rPr>
                        <a:t>Support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243A"/>
                          </a:solidFill>
                        </a:rPr>
                        <a:t>0.0601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43A"/>
                          </a:solidFill>
                        </a:rPr>
                        <a:t>Confidence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243A"/>
                          </a:solidFill>
                        </a:rPr>
                        <a:t>0.5937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43A"/>
                          </a:solidFill>
                        </a:rPr>
                        <a:t>Lift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243A"/>
                          </a:solidFill>
                        </a:rPr>
                        <a:t>5.8611</a:t>
                      </a:r>
                      <a:endParaRPr lang="en-US" sz="12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B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Lift note"/>
          <p:cNvSpPr txBox="1"/>
          <p:nvPr/>
        </p:nvSpPr>
        <p:spPr>
          <a:xfrm>
            <a:off x="5760720" y="4206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A lift above 1 means the items occur together more often than by chance.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pic>
        <p:nvPicPr>
          <p:cNvPr id="26" name="Picture 25" descr="apriori_actual_code_out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1560"/>
            <a:ext cx="5120640" cy="3611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4590288"/>
            <a:ext cx="4846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80">
                <a:solidFill>
                  <a:srgbClr val="5F5F5F"/>
                </a:solidFill>
              </a:defRPr>
            </a:pPr>
            <a:r>
              <a:t>Actual project screenshots: transaction preparation → frequent itemsets → association rules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Power BI Dashboard</a:t>
            </a:r>
            <a:endParaRPr lang="en-US" sz="3000" dirty="0"/>
          </a:p>
        </p:txBody>
      </p:sp>
      <p:sp>
        <p:nvSpPr>
          <p:cNvPr id="17" name="Dashboard views"/>
          <p:cNvSpPr txBox="1"/>
          <p:nvPr/>
        </p:nvSpPr>
        <p:spPr>
          <a:xfrm>
            <a:off x="457200" y="4234282"/>
            <a:ext cx="82296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Dashboard views: </a:t>
            </a:r>
            <a:r>
              <a:rPr lang="en-US" sz="1200" dirty="0">
                <a:solidFill>
                  <a:schemeClr val="tx1"/>
                </a:solidFill>
              </a:rPr>
              <a:t>Total Prepared, Sold, Wasted • Waste % • Average Predicted Demand • Food Waste by Category • Top Food Items by Waste • Prepared vs Sold vs Wasted • Regression results • Apriori association rules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74D143-28BC-EE46-D883-FA2BE22B24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614" y="914401"/>
            <a:ext cx="6980603" cy="31735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Key Results</a:t>
            </a:r>
            <a:endParaRPr lang="en-US" sz="3000" dirty="0"/>
          </a:p>
        </p:txBody>
      </p:sp>
      <p:sp>
        <p:nvSpPr>
          <p:cNvPr id="3" name="Result column"/>
          <p:cNvSpPr/>
          <p:nvPr/>
        </p:nvSpPr>
        <p:spPr>
          <a:xfrm>
            <a:off x="457200" y="1051560"/>
            <a:ext cx="2560320" cy="36118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sult header"/>
          <p:cNvSpPr/>
          <p:nvPr/>
        </p:nvSpPr>
        <p:spPr>
          <a:xfrm>
            <a:off x="457200" y="1051560"/>
            <a:ext cx="2560320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Result header text"/>
          <p:cNvSpPr txBox="1"/>
          <p:nvPr/>
        </p:nvSpPr>
        <p:spPr>
          <a:xfrm>
            <a:off x="457200" y="1051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Linear Regression</a:t>
            </a:r>
            <a:endParaRPr lang="en-US" sz="1400" dirty="0"/>
          </a:p>
        </p:txBody>
      </p:sp>
      <p:sp>
        <p:nvSpPr>
          <p:cNvPr id="6" name="Result column"/>
          <p:cNvSpPr/>
          <p:nvPr/>
        </p:nvSpPr>
        <p:spPr>
          <a:xfrm>
            <a:off x="3291840" y="1051560"/>
            <a:ext cx="2560320" cy="36118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Result header"/>
          <p:cNvSpPr/>
          <p:nvPr/>
        </p:nvSpPr>
        <p:spPr>
          <a:xfrm>
            <a:off x="3291840" y="1051560"/>
            <a:ext cx="2560320" cy="411480"/>
          </a:xfrm>
          <a:prstGeom prst="roundRect">
            <a:avLst>
              <a:gd name="adj" fmla="val 1777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sult header text"/>
          <p:cNvSpPr txBox="1"/>
          <p:nvPr/>
        </p:nvSpPr>
        <p:spPr>
          <a:xfrm>
            <a:off x="3291840" y="1051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Apriori</a:t>
            </a:r>
            <a:endParaRPr lang="en-US" sz="1400" dirty="0"/>
          </a:p>
        </p:txBody>
      </p:sp>
      <p:sp>
        <p:nvSpPr>
          <p:cNvPr id="9" name="Result column"/>
          <p:cNvSpPr/>
          <p:nvPr/>
        </p:nvSpPr>
        <p:spPr>
          <a:xfrm>
            <a:off x="6126480" y="1051560"/>
            <a:ext cx="2560320" cy="36118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Result header"/>
          <p:cNvSpPr/>
          <p:nvPr/>
        </p:nvSpPr>
        <p:spPr>
          <a:xfrm>
            <a:off x="6126480" y="1051560"/>
            <a:ext cx="2560320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Result header text"/>
          <p:cNvSpPr txBox="1"/>
          <p:nvPr/>
        </p:nvSpPr>
        <p:spPr>
          <a:xfrm>
            <a:off x="6126480" y="1051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Food Waste</a:t>
            </a:r>
            <a:endParaRPr lang="en-US" sz="1400" dirty="0"/>
          </a:p>
        </p:txBody>
      </p:sp>
      <p:sp>
        <p:nvSpPr>
          <p:cNvPr id="12" name="LR metric label"/>
          <p:cNvSpPr txBox="1"/>
          <p:nvPr/>
        </p:nvSpPr>
        <p:spPr>
          <a:xfrm>
            <a:off x="594360" y="1600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MAE</a:t>
            </a:r>
            <a:endParaRPr lang="en-US" sz="1200" dirty="0"/>
          </a:p>
        </p:txBody>
      </p:sp>
      <p:sp>
        <p:nvSpPr>
          <p:cNvPr id="13" name="LR metric value"/>
          <p:cNvSpPr txBox="1"/>
          <p:nvPr/>
        </p:nvSpPr>
        <p:spPr>
          <a:xfrm>
            <a:off x="1874520" y="16002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47.93</a:t>
            </a:r>
            <a:endParaRPr lang="en-US" sz="1600" dirty="0"/>
          </a:p>
        </p:txBody>
      </p:sp>
      <p:sp>
        <p:nvSpPr>
          <p:cNvPr id="14" name="LR metric label"/>
          <p:cNvSpPr txBox="1"/>
          <p:nvPr/>
        </p:nvSpPr>
        <p:spPr>
          <a:xfrm>
            <a:off x="594360" y="21854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RMSE</a:t>
            </a:r>
            <a:endParaRPr lang="en-US" sz="1200" dirty="0"/>
          </a:p>
        </p:txBody>
      </p:sp>
      <p:sp>
        <p:nvSpPr>
          <p:cNvPr id="15" name="LR metric value"/>
          <p:cNvSpPr txBox="1"/>
          <p:nvPr/>
        </p:nvSpPr>
        <p:spPr>
          <a:xfrm>
            <a:off x="1874520" y="218541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68.42</a:t>
            </a:r>
            <a:endParaRPr lang="en-US" sz="1600" dirty="0"/>
          </a:p>
        </p:txBody>
      </p:sp>
      <p:sp>
        <p:nvSpPr>
          <p:cNvPr id="16" name="LR metric label"/>
          <p:cNvSpPr txBox="1"/>
          <p:nvPr/>
        </p:nvSpPr>
        <p:spPr>
          <a:xfrm>
            <a:off x="594360" y="2770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R²</a:t>
            </a:r>
            <a:endParaRPr lang="en-US" sz="1200" dirty="0"/>
          </a:p>
        </p:txBody>
      </p:sp>
      <p:sp>
        <p:nvSpPr>
          <p:cNvPr id="17" name="LR metric value"/>
          <p:cNvSpPr txBox="1"/>
          <p:nvPr/>
        </p:nvSpPr>
        <p:spPr>
          <a:xfrm>
            <a:off x="1874520" y="27706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0.8828</a:t>
            </a:r>
            <a:endParaRPr lang="en-US" sz="1600" dirty="0"/>
          </a:p>
        </p:txBody>
      </p:sp>
      <p:sp>
        <p:nvSpPr>
          <p:cNvPr id="18" name="LR metric label"/>
          <p:cNvSpPr txBox="1"/>
          <p:nvPr/>
        </p:nvSpPr>
        <p:spPr>
          <a:xfrm>
            <a:off x="594360" y="3355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Avg Actual Demand</a:t>
            </a:r>
            <a:endParaRPr lang="en-US" sz="1200" dirty="0"/>
          </a:p>
        </p:txBody>
      </p:sp>
      <p:sp>
        <p:nvSpPr>
          <p:cNvPr id="19" name="LR metric value"/>
          <p:cNvSpPr txBox="1"/>
          <p:nvPr/>
        </p:nvSpPr>
        <p:spPr>
          <a:xfrm>
            <a:off x="1874520" y="33558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239.25</a:t>
            </a:r>
            <a:endParaRPr lang="en-US" sz="1600" dirty="0"/>
          </a:p>
        </p:txBody>
      </p:sp>
      <p:sp>
        <p:nvSpPr>
          <p:cNvPr id="20" name="LR metric label"/>
          <p:cNvSpPr txBox="1"/>
          <p:nvPr/>
        </p:nvSpPr>
        <p:spPr>
          <a:xfrm>
            <a:off x="594360" y="3941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Avg Predicted Demand</a:t>
            </a:r>
            <a:endParaRPr lang="en-US" sz="1200" dirty="0"/>
          </a:p>
        </p:txBody>
      </p:sp>
      <p:sp>
        <p:nvSpPr>
          <p:cNvPr id="21" name="LR metric value"/>
          <p:cNvSpPr txBox="1"/>
          <p:nvPr/>
        </p:nvSpPr>
        <p:spPr>
          <a:xfrm>
            <a:off x="1874520" y="39410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248.36</a:t>
            </a:r>
            <a:endParaRPr lang="en-US" sz="1600" dirty="0"/>
          </a:p>
        </p:txBody>
      </p:sp>
      <p:sp>
        <p:nvSpPr>
          <p:cNvPr id="22" name="Rule count"/>
          <p:cNvSpPr txBox="1"/>
          <p:nvPr/>
        </p:nvSpPr>
        <p:spPr>
          <a:xfrm>
            <a:off x="3291840" y="15544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271</a:t>
            </a:r>
            <a:endParaRPr lang="en-US" sz="4000" dirty="0"/>
          </a:p>
        </p:txBody>
      </p:sp>
      <p:sp>
        <p:nvSpPr>
          <p:cNvPr id="23" name="Rule count label"/>
          <p:cNvSpPr txBox="1"/>
          <p:nvPr/>
        </p:nvSpPr>
        <p:spPr>
          <a:xfrm>
            <a:off x="3291840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association rules generated</a:t>
            </a:r>
            <a:endParaRPr lang="en-US" sz="1200" dirty="0"/>
          </a:p>
        </p:txBody>
      </p:sp>
      <p:sp>
        <p:nvSpPr>
          <p:cNvPr id="24" name="Example rule"/>
          <p:cNvSpPr txBox="1"/>
          <p:nvPr/>
        </p:nvSpPr>
        <p:spPr>
          <a:xfrm>
            <a:off x="3429000" y="2651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Example: Lemon Juice → Coffee</a:t>
            </a:r>
            <a:endParaRPr lang="en-US" sz="1300" dirty="0"/>
          </a:p>
        </p:txBody>
      </p:sp>
      <p:sp>
        <p:nvSpPr>
          <p:cNvPr id="25" name="Rule metric label"/>
          <p:cNvSpPr txBox="1"/>
          <p:nvPr/>
        </p:nvSpPr>
        <p:spPr>
          <a:xfrm>
            <a:off x="3429000" y="30632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Support</a:t>
            </a:r>
            <a:endParaRPr lang="en-US" sz="1200" dirty="0"/>
          </a:p>
        </p:txBody>
      </p:sp>
      <p:sp>
        <p:nvSpPr>
          <p:cNvPr id="26" name="Rule metric value"/>
          <p:cNvSpPr txBox="1"/>
          <p:nvPr/>
        </p:nvSpPr>
        <p:spPr>
          <a:xfrm>
            <a:off x="4709160" y="30632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0.0601</a:t>
            </a:r>
            <a:endParaRPr lang="en-US" sz="1600" dirty="0"/>
          </a:p>
        </p:txBody>
      </p:sp>
      <p:sp>
        <p:nvSpPr>
          <p:cNvPr id="27" name="Rule metric label"/>
          <p:cNvSpPr txBox="1"/>
          <p:nvPr/>
        </p:nvSpPr>
        <p:spPr>
          <a:xfrm>
            <a:off x="3429000" y="35204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Confidence</a:t>
            </a:r>
            <a:endParaRPr lang="en-US" sz="1200" dirty="0"/>
          </a:p>
        </p:txBody>
      </p:sp>
      <p:sp>
        <p:nvSpPr>
          <p:cNvPr id="28" name="Rule metric value"/>
          <p:cNvSpPr txBox="1"/>
          <p:nvPr/>
        </p:nvSpPr>
        <p:spPr>
          <a:xfrm>
            <a:off x="4709160" y="3520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0.5937</a:t>
            </a:r>
            <a:endParaRPr lang="en-US" sz="1600" dirty="0"/>
          </a:p>
        </p:txBody>
      </p:sp>
      <p:sp>
        <p:nvSpPr>
          <p:cNvPr id="29" name="Rule metric label"/>
          <p:cNvSpPr txBox="1"/>
          <p:nvPr/>
        </p:nvSpPr>
        <p:spPr>
          <a:xfrm>
            <a:off x="3429000" y="3977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Lift</a:t>
            </a:r>
            <a:endParaRPr lang="en-US" sz="1200" dirty="0"/>
          </a:p>
        </p:txBody>
      </p:sp>
      <p:sp>
        <p:nvSpPr>
          <p:cNvPr id="30" name="Rule metric value"/>
          <p:cNvSpPr txBox="1"/>
          <p:nvPr/>
        </p:nvSpPr>
        <p:spPr>
          <a:xfrm>
            <a:off x="4709160" y="3977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5.8611</a:t>
            </a:r>
            <a:endParaRPr lang="en-US" sz="1600" dirty="0"/>
          </a:p>
        </p:txBody>
      </p:sp>
      <p:sp>
        <p:nvSpPr>
          <p:cNvPr id="31" name="Total waste"/>
          <p:cNvSpPr txBox="1"/>
          <p:nvPr/>
        </p:nvSpPr>
        <p:spPr>
          <a:xfrm>
            <a:off x="6126480" y="15544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391,224.47</a:t>
            </a:r>
            <a:endParaRPr lang="en-US" sz="2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total waste (units)</a:t>
            </a:r>
            <a:endParaRPr lang="en-US" sz="2400" dirty="0"/>
          </a:p>
        </p:txBody>
      </p:sp>
      <p:sp>
        <p:nvSpPr>
          <p:cNvPr id="32" name="Waste percentage"/>
          <p:cNvSpPr txBox="1"/>
          <p:nvPr/>
        </p:nvSpPr>
        <p:spPr>
          <a:xfrm>
            <a:off x="6126480" y="22402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6.92%</a:t>
            </a:r>
            <a:endParaRPr lang="en-US" sz="2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of food prepared was wasted</a:t>
            </a:r>
            <a:endParaRPr lang="en-US" sz="2400" dirty="0"/>
          </a:p>
        </p:txBody>
      </p:sp>
      <p:graphicFrame>
        <p:nvGraphicFramePr>
          <p:cNvPr id="33" name="Chart 0"/>
          <p:cNvGraphicFramePr/>
          <p:nvPr/>
        </p:nvGraphicFramePr>
        <p:xfrm>
          <a:off x="6172200" y="2971800"/>
          <a:ext cx="2468880" cy="164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Conclusion</a:t>
            </a:r>
            <a:endParaRPr lang="en-US" sz="3000" dirty="0"/>
          </a:p>
        </p:txBody>
      </p:sp>
      <p:sp>
        <p:nvSpPr>
          <p:cNvPr id="3" name="Conclusion marker"/>
          <p:cNvSpPr/>
          <p:nvPr/>
        </p:nvSpPr>
        <p:spPr>
          <a:xfrm>
            <a:off x="457200" y="1216152"/>
            <a:ext cx="274320" cy="2743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Conclusion point"/>
          <p:cNvSpPr txBox="1"/>
          <p:nvPr/>
        </p:nvSpPr>
        <p:spPr>
          <a:xfrm>
            <a:off x="914400" y="1097280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The project applies two Data Mining techniques to cafeteria food data.</a:t>
            </a:r>
            <a:endParaRPr lang="en-US" sz="1600" dirty="0"/>
          </a:p>
        </p:txBody>
      </p:sp>
      <p:sp>
        <p:nvSpPr>
          <p:cNvPr id="5" name="Conclusion marker"/>
          <p:cNvSpPr/>
          <p:nvPr/>
        </p:nvSpPr>
        <p:spPr>
          <a:xfrm>
            <a:off x="457200" y="185623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Conclusion point"/>
          <p:cNvSpPr txBox="1"/>
          <p:nvPr/>
        </p:nvSpPr>
        <p:spPr>
          <a:xfrm>
            <a:off x="914400" y="1737360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Linear Regression is used to estimate food demand.</a:t>
            </a:r>
            <a:endParaRPr lang="en-US" sz="1600" dirty="0"/>
          </a:p>
        </p:txBody>
      </p:sp>
      <p:sp>
        <p:nvSpPr>
          <p:cNvPr id="7" name="Conclusion marker"/>
          <p:cNvSpPr/>
          <p:nvPr/>
        </p:nvSpPr>
        <p:spPr>
          <a:xfrm>
            <a:off x="457200" y="2496312"/>
            <a:ext cx="274320" cy="2743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Conclusion point"/>
          <p:cNvSpPr txBox="1"/>
          <p:nvPr/>
        </p:nvSpPr>
        <p:spPr>
          <a:xfrm>
            <a:off x="914400" y="2377440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Apriori is used to identify associations between food items.</a:t>
            </a:r>
            <a:endParaRPr lang="en-US" sz="1600" dirty="0"/>
          </a:p>
        </p:txBody>
      </p:sp>
      <p:sp>
        <p:nvSpPr>
          <p:cNvPr id="9" name="Conclusion marker"/>
          <p:cNvSpPr/>
          <p:nvPr/>
        </p:nvSpPr>
        <p:spPr>
          <a:xfrm>
            <a:off x="457200" y="3136392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Conclusion point"/>
          <p:cNvSpPr txBox="1"/>
          <p:nvPr/>
        </p:nvSpPr>
        <p:spPr>
          <a:xfrm>
            <a:off x="914400" y="3017520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Power BI is used to visualize food preparation, sales, wastage, prediction results and association rules.</a:t>
            </a:r>
            <a:endParaRPr lang="en-US" sz="1600" dirty="0"/>
          </a:p>
        </p:txBody>
      </p:sp>
      <p:sp>
        <p:nvSpPr>
          <p:cNvPr id="11" name="Closing statement"/>
          <p:cNvSpPr/>
          <p:nvPr/>
        </p:nvSpPr>
        <p:spPr>
          <a:xfrm>
            <a:off x="457200" y="3749040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Closing text"/>
          <p:cNvSpPr txBox="1"/>
          <p:nvPr/>
        </p:nvSpPr>
        <p:spPr>
          <a:xfrm>
            <a:off x="640080" y="37490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The combined analysis provides data-driven insights that can support better food preparation and food-waste management.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References</a:t>
            </a:r>
            <a:endParaRPr lang="en-US" sz="3000" dirty="0"/>
          </a:p>
        </p:txBody>
      </p:sp>
      <p:sp>
        <p:nvSpPr>
          <p:cNvPr id="3" name="Reference row"/>
          <p:cNvSpPr/>
          <p:nvPr/>
        </p:nvSpPr>
        <p:spPr>
          <a:xfrm>
            <a:off x="457200" y="1051560"/>
            <a:ext cx="8229600" cy="438912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Number badge"/>
          <p:cNvSpPr/>
          <p:nvPr/>
        </p:nvSpPr>
        <p:spPr>
          <a:xfrm>
            <a:off x="530352" y="109728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Number"/>
          <p:cNvSpPr txBox="1"/>
          <p:nvPr/>
        </p:nvSpPr>
        <p:spPr>
          <a:xfrm>
            <a:off x="530352" y="1097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Reference text"/>
          <p:cNvSpPr txBox="1"/>
          <p:nvPr/>
        </p:nvSpPr>
        <p:spPr>
          <a:xfrm>
            <a:off x="1005840" y="1051560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Python Documentation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docs.python.org</a:t>
            </a:r>
            <a:endParaRPr lang="en-US" sz="1300" dirty="0"/>
          </a:p>
        </p:txBody>
      </p:sp>
      <p:sp>
        <p:nvSpPr>
          <p:cNvPr id="7" name="Reference row"/>
          <p:cNvSpPr/>
          <p:nvPr/>
        </p:nvSpPr>
        <p:spPr>
          <a:xfrm>
            <a:off x="457200" y="1563624"/>
            <a:ext cx="8229600" cy="438912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Number badge"/>
          <p:cNvSpPr/>
          <p:nvPr/>
        </p:nvSpPr>
        <p:spPr>
          <a:xfrm>
            <a:off x="530352" y="1609344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Number"/>
          <p:cNvSpPr txBox="1"/>
          <p:nvPr/>
        </p:nvSpPr>
        <p:spPr>
          <a:xfrm>
            <a:off x="530352" y="1609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Reference text"/>
          <p:cNvSpPr txBox="1"/>
          <p:nvPr/>
        </p:nvSpPr>
        <p:spPr>
          <a:xfrm>
            <a:off x="1005840" y="1563624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Scikit-learn Documentation – Linear Models (LinearRegression, regression metrics)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scikit-learn.org/stable</a:t>
            </a:r>
            <a:endParaRPr lang="en-US" sz="1300" dirty="0"/>
          </a:p>
        </p:txBody>
      </p:sp>
      <p:sp>
        <p:nvSpPr>
          <p:cNvPr id="11" name="Reference row"/>
          <p:cNvSpPr/>
          <p:nvPr/>
        </p:nvSpPr>
        <p:spPr>
          <a:xfrm>
            <a:off x="457200" y="2075688"/>
            <a:ext cx="8229600" cy="438912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Number badge"/>
          <p:cNvSpPr/>
          <p:nvPr/>
        </p:nvSpPr>
        <p:spPr>
          <a:xfrm>
            <a:off x="530352" y="212140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Number"/>
          <p:cNvSpPr txBox="1"/>
          <p:nvPr/>
        </p:nvSpPr>
        <p:spPr>
          <a:xfrm>
            <a:off x="530352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Reference text"/>
          <p:cNvSpPr txBox="1"/>
          <p:nvPr/>
        </p:nvSpPr>
        <p:spPr>
          <a:xfrm>
            <a:off x="1005840" y="2075688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Mlxtend Documentation – apriori and association_rules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rasbt.github.io/mlxtend</a:t>
            </a:r>
            <a:endParaRPr lang="en-US" sz="1300" dirty="0"/>
          </a:p>
        </p:txBody>
      </p:sp>
      <p:sp>
        <p:nvSpPr>
          <p:cNvPr id="15" name="Reference row"/>
          <p:cNvSpPr/>
          <p:nvPr/>
        </p:nvSpPr>
        <p:spPr>
          <a:xfrm>
            <a:off x="457200" y="2587752"/>
            <a:ext cx="8229600" cy="438912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Number badge"/>
          <p:cNvSpPr/>
          <p:nvPr/>
        </p:nvSpPr>
        <p:spPr>
          <a:xfrm>
            <a:off x="530352" y="2633472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Number"/>
          <p:cNvSpPr txBox="1"/>
          <p:nvPr/>
        </p:nvSpPr>
        <p:spPr>
          <a:xfrm>
            <a:off x="530352" y="2633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Reference text"/>
          <p:cNvSpPr txBox="1"/>
          <p:nvPr/>
        </p:nvSpPr>
        <p:spPr>
          <a:xfrm>
            <a:off x="1005840" y="2587752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Microsoft Power BI Documentation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learn.microsoft.com/power-bi</a:t>
            </a:r>
            <a:endParaRPr lang="en-US" sz="1300" dirty="0"/>
          </a:p>
        </p:txBody>
      </p:sp>
      <p:sp>
        <p:nvSpPr>
          <p:cNvPr id="19" name="Reference row"/>
          <p:cNvSpPr/>
          <p:nvPr/>
        </p:nvSpPr>
        <p:spPr>
          <a:xfrm>
            <a:off x="457200" y="3099816"/>
            <a:ext cx="8229600" cy="438912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Number badge"/>
          <p:cNvSpPr/>
          <p:nvPr/>
        </p:nvSpPr>
        <p:spPr>
          <a:xfrm>
            <a:off x="530352" y="314553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Number"/>
          <p:cNvSpPr txBox="1"/>
          <p:nvPr/>
        </p:nvSpPr>
        <p:spPr>
          <a:xfrm>
            <a:off x="530352" y="3145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Reference text"/>
          <p:cNvSpPr txBox="1"/>
          <p:nvPr/>
        </p:nvSpPr>
        <p:spPr>
          <a:xfrm>
            <a:off x="1005840" y="3099816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Agrawal, R. and Srikant, R. (1994). Fast Algorithms for Mining Association Rules. VLDB.</a:t>
            </a:r>
            <a:endParaRPr lang="en-US" sz="1300" dirty="0"/>
          </a:p>
        </p:txBody>
      </p:sp>
      <p:sp>
        <p:nvSpPr>
          <p:cNvPr id="23" name="Reference row"/>
          <p:cNvSpPr/>
          <p:nvPr/>
        </p:nvSpPr>
        <p:spPr>
          <a:xfrm>
            <a:off x="457200" y="3611880"/>
            <a:ext cx="8229600" cy="438912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Number badge"/>
          <p:cNvSpPr/>
          <p:nvPr/>
        </p:nvSpPr>
        <p:spPr>
          <a:xfrm>
            <a:off x="530352" y="3657600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Number"/>
          <p:cNvSpPr txBox="1"/>
          <p:nvPr/>
        </p:nvSpPr>
        <p:spPr>
          <a:xfrm>
            <a:off x="530352" y="3657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6" name="Reference text"/>
          <p:cNvSpPr txBox="1"/>
          <p:nvPr/>
        </p:nvSpPr>
        <p:spPr>
          <a:xfrm>
            <a:off x="1005840" y="3611880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Han, J., Kamber, M. and Pei, J. Data Mining: Concepts and Techniques. Morgan Kaufmann.</a:t>
            </a:r>
            <a:endParaRPr lang="en-US" sz="1300" dirty="0"/>
          </a:p>
        </p:txBody>
      </p:sp>
      <p:sp>
        <p:nvSpPr>
          <p:cNvPr id="27" name="Reference row"/>
          <p:cNvSpPr/>
          <p:nvPr/>
        </p:nvSpPr>
        <p:spPr>
          <a:xfrm>
            <a:off x="457200" y="4123944"/>
            <a:ext cx="8229600" cy="438912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Number badge"/>
          <p:cNvSpPr/>
          <p:nvPr/>
        </p:nvSpPr>
        <p:spPr>
          <a:xfrm>
            <a:off x="530352" y="416966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Number"/>
          <p:cNvSpPr txBox="1"/>
          <p:nvPr/>
        </p:nvSpPr>
        <p:spPr>
          <a:xfrm>
            <a:off x="530352" y="4169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0" name="Reference text"/>
          <p:cNvSpPr txBox="1"/>
          <p:nvPr/>
        </p:nvSpPr>
        <p:spPr>
          <a:xfrm>
            <a:off x="1005840" y="4123944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Project dataset: Smart Food Waste (SmartPlate) cafeteria dataset and project files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martPlate Academic">
  <a:themeElements>
    <a:clrScheme name="SmartPlate Academic">
      <a:dk1>
        <a:srgbClr val="16243A"/>
      </a:dk1>
      <a:lt1>
        <a:srgbClr val="FFFFFF"/>
      </a:lt1>
      <a:dk2>
        <a:srgbClr val="0F2747"/>
      </a:dk2>
      <a:lt2>
        <a:srgbClr val="EDF2F7"/>
      </a:lt2>
      <a:accent1>
        <a:srgbClr val="1F7A6D"/>
      </a:accent1>
      <a:accent2>
        <a:srgbClr val="D9703A"/>
      </a:accent2>
      <a:accent3>
        <a:srgbClr val="3B6EA8"/>
      </a:accent3>
      <a:accent4>
        <a:srgbClr val="6B7C93"/>
      </a:accent4>
      <a:accent5>
        <a:srgbClr val="C9A227"/>
      </a:accent5>
      <a:accent6>
        <a:srgbClr val="A9B8C9"/>
      </a:accent6>
      <a:hlink>
        <a:srgbClr val="3B6EA8"/>
      </a:hlink>
      <a:folHlink>
        <a:srgbClr val="6B7C93"/>
      </a:folHlink>
    </a:clrScheme>
    <a:fontScheme name="SmartPlate Academic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2587</Words>
  <Application>Microsoft Office PowerPoint</Application>
  <PresentationFormat>On-screen Show (16:9)</PresentationFormat>
  <Paragraphs>566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Cambria</vt:lpstr>
      <vt:lpstr>SmartPlate Academic</vt:lpstr>
      <vt:lpstr>Smart Food Waste Management Using Data Mining</vt:lpstr>
      <vt:lpstr>Introduction</vt:lpstr>
      <vt:lpstr>Dataset Used: Smart Food Waste Dataset</vt:lpstr>
      <vt:lpstr>Problem Statement</vt:lpstr>
      <vt:lpstr>Project Objectives</vt:lpstr>
      <vt:lpstr>Data Mining Algorithms Used</vt:lpstr>
      <vt:lpstr>How Linear Regression Works</vt:lpstr>
      <vt:lpstr>Linear Regression — Python Implementation</vt:lpstr>
      <vt:lpstr>Apriori Association Rule Mining</vt:lpstr>
      <vt:lpstr>Apriori — Python Implementation &amp; Results</vt:lpstr>
      <vt:lpstr>Power BI Dashboard</vt:lpstr>
      <vt:lpstr>Key Results</vt:lpstr>
      <vt:lpstr>Conclusion</vt:lpstr>
      <vt:lpstr>References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Food Waste Management Using Data Mining</dc:title>
  <dc:subject>PptxGenJS Presentation</dc:subject>
  <dc:creator>DMW Project</dc:creator>
  <cp:lastModifiedBy>ap12158527@gmail.com</cp:lastModifiedBy>
  <cp:revision>4</cp:revision>
  <dcterms:created xsi:type="dcterms:W3CDTF">2026-10-03T17:52:57Z</dcterms:created>
  <dcterms:modified xsi:type="dcterms:W3CDTF">2026-10-08T17:57:57Z</dcterms:modified>
</cp:coreProperties>
</file>